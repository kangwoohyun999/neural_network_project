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0" d="100"/>
          <a:sy n="7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presProps" Target="presProps.xml"  /><Relationship Id="rId23" Type="http://schemas.openxmlformats.org/officeDocument/2006/relationships/viewProps" Target="viewProps.xml"  /><Relationship Id="rId24" Type="http://schemas.openxmlformats.org/officeDocument/2006/relationships/theme" Target="theme/theme1.xml"  /><Relationship Id="rId25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sv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svg"  /><Relationship Id="rId4" Type="http://schemas.openxmlformats.org/officeDocument/2006/relationships/image" Target="../media/image6.png"  /><Relationship Id="rId5" Type="http://schemas.openxmlformats.org/officeDocument/2006/relationships/image" Target="../media/image7.svg"  /><Relationship Id="rId6" Type="http://schemas.openxmlformats.org/officeDocument/2006/relationships/image" Target="../media/image8.png"  /><Relationship Id="rId7" Type="http://schemas.openxmlformats.org/officeDocument/2006/relationships/image" Target="../media/image9.svg"  /><Relationship Id="rId8" Type="http://schemas.openxmlformats.org/officeDocument/2006/relationships/image" Target="../media/image10.png"  /><Relationship Id="rId9" Type="http://schemas.openxmlformats.org/officeDocument/2006/relationships/image" Target="../media/image11.sv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3.svg"  /><Relationship Id="rId4" Type="http://schemas.openxmlformats.org/officeDocument/2006/relationships/image" Target="../media/image12.png"  /><Relationship Id="rId5" Type="http://schemas.openxmlformats.org/officeDocument/2006/relationships/image" Target="../media/image13.sv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svg"  /><Relationship Id="rId6" Type="http://schemas.openxmlformats.org/officeDocument/2006/relationships/image" Target="../media/image17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18.png"  /><Relationship Id="rId4" Type="http://schemas.openxmlformats.org/officeDocument/2006/relationships/image" Target="../media/image19.svg"  /><Relationship Id="rId5" Type="http://schemas.openxmlformats.org/officeDocument/2006/relationships/image" Target="../media/image20.png"  /><Relationship Id="rId6" Type="http://schemas.openxmlformats.org/officeDocument/2006/relationships/image" Target="../media/image21.svg"  /><Relationship Id="rId7" Type="http://schemas.openxmlformats.org/officeDocument/2006/relationships/image" Target="../media/image2.png"  /><Relationship Id="rId8" Type="http://schemas.openxmlformats.org/officeDocument/2006/relationships/image" Target="../media/image3.svg"  /><Relationship Id="rId9" Type="http://schemas.openxmlformats.org/officeDocument/2006/relationships/image" Target="../media/image2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3.png"  /><Relationship Id="rId4" Type="http://schemas.openxmlformats.org/officeDocument/2006/relationships/image" Target="../media/image24.sv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svg"  /><Relationship Id="rId4" Type="http://schemas.openxmlformats.org/officeDocument/2006/relationships/image" Target="../media/image25.png"  /><Relationship Id="rId5" Type="http://schemas.openxmlformats.org/officeDocument/2006/relationships/image" Target="../media/image26.svg"  /><Relationship Id="rId6" Type="http://schemas.openxmlformats.org/officeDocument/2006/relationships/image" Target="../media/image27.png"  /><Relationship Id="rId7" Type="http://schemas.openxmlformats.org/officeDocument/2006/relationships/image" Target="../media/image28.svg"  /><Relationship Id="rId8" Type="http://schemas.openxmlformats.org/officeDocument/2006/relationships/image" Target="../media/image29.png"  /><Relationship Id="rId9" Type="http://schemas.openxmlformats.org/officeDocument/2006/relationships/image" Target="../media/image30.sv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24.sv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24.sv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24.svg"  /><Relationship Id="rId4" Type="http://schemas.openxmlformats.org/officeDocument/2006/relationships/image" Target="../media/image31.png"  /><Relationship Id="rId5" Type="http://schemas.openxmlformats.org/officeDocument/2006/relationships/image" Target="../media/image3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24.svg"  /><Relationship Id="rId4" Type="http://schemas.openxmlformats.org/officeDocument/2006/relationships/image" Target="../media/image33.png"  /><Relationship Id="rId5" Type="http://schemas.openxmlformats.org/officeDocument/2006/relationships/image" Target="../media/image34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24.svg"  /><Relationship Id="rId4" Type="http://schemas.openxmlformats.org/officeDocument/2006/relationships/image" Target="../media/image35.png"  /><Relationship Id="rId5" Type="http://schemas.openxmlformats.org/officeDocument/2006/relationships/image" Target="../media/image36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24.svg"  /><Relationship Id="rId4" Type="http://schemas.openxmlformats.org/officeDocument/2006/relationships/image" Target="../media/image37.png"  /><Relationship Id="rId5" Type="http://schemas.openxmlformats.org/officeDocument/2006/relationships/image" Target="../media/image38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24.svg"  /><Relationship Id="rId4" Type="http://schemas.openxmlformats.org/officeDocument/2006/relationships/image" Target="../media/image39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3.png"  /><Relationship Id="rId4" Type="http://schemas.openxmlformats.org/officeDocument/2006/relationships/image" Target="../media/image24.sv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3.png"  /><Relationship Id="rId4" Type="http://schemas.openxmlformats.org/officeDocument/2006/relationships/image" Target="../media/image24.sv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2.png"  /><Relationship Id="rId11" Type="http://schemas.openxmlformats.org/officeDocument/2006/relationships/image" Target="../media/image43.png"  /><Relationship Id="rId2" Type="http://schemas.openxmlformats.org/officeDocument/2006/relationships/image" Target="../media/image40.png"  /><Relationship Id="rId3" Type="http://schemas.openxmlformats.org/officeDocument/2006/relationships/image" Target="../media/image41.svg"  /><Relationship Id="rId4" Type="http://schemas.openxmlformats.org/officeDocument/2006/relationships/image" Target="../media/image40.png"  /><Relationship Id="rId5" Type="http://schemas.openxmlformats.org/officeDocument/2006/relationships/image" Target="../media/image41.svg"  /><Relationship Id="rId6" Type="http://schemas.openxmlformats.org/officeDocument/2006/relationships/image" Target="../media/image40.png"  /><Relationship Id="rId7" Type="http://schemas.openxmlformats.org/officeDocument/2006/relationships/image" Target="../media/image41.svg"  /><Relationship Id="rId8" Type="http://schemas.openxmlformats.org/officeDocument/2006/relationships/image" Target="../media/image40.png"  /><Relationship Id="rId9" Type="http://schemas.openxmlformats.org/officeDocument/2006/relationships/image" Target="../media/image41.sv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svg"  /><Relationship Id="rId5" Type="http://schemas.openxmlformats.org/officeDocument/2006/relationships/image" Target="../media/image44.png"  /><Relationship Id="rId6" Type="http://schemas.openxmlformats.org/officeDocument/2006/relationships/image" Target="../media/image45.svg"  /><Relationship Id="rId7" Type="http://schemas.openxmlformats.org/officeDocument/2006/relationships/image" Target="../media/image46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7.png"  /><Relationship Id="rId3" Type="http://schemas.openxmlformats.org/officeDocument/2006/relationships/image" Target="../media/image48.png"  /><Relationship Id="rId4" Type="http://schemas.openxmlformats.org/officeDocument/2006/relationships/image" Target="../media/image17.png"  /><Relationship Id="rId5" Type="http://schemas.openxmlformats.org/officeDocument/2006/relationships/image" Target="../media/image48.png"  /><Relationship Id="rId6" Type="http://schemas.openxmlformats.org/officeDocument/2006/relationships/image" Target="../media/image4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svg"  /><Relationship Id="rId5" Type="http://schemas.openxmlformats.org/officeDocument/2006/relationships/image" Target="../media/image44.png"  /><Relationship Id="rId6" Type="http://schemas.openxmlformats.org/officeDocument/2006/relationships/image" Target="../media/image45.svg" 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5091031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8071" y="-462915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36347" y="3039068"/>
            <a:ext cx="9815307" cy="4208864"/>
            <a:chOff x="0" y="0"/>
            <a:chExt cx="189549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5495" cy="812800"/>
            </a:xfrm>
            <a:custGeom>
              <a:avLst/>
              <a:gdLst/>
              <a:ahLst/>
              <a:cxnLst/>
              <a:rect r="r" b="b" t="t" l="l"/>
              <a:pathLst>
                <a:path h="812800" w="1895495">
                  <a:moveTo>
                    <a:pt x="0" y="0"/>
                  </a:moveTo>
                  <a:lnTo>
                    <a:pt x="1895495" y="0"/>
                  </a:lnTo>
                  <a:lnTo>
                    <a:pt x="18954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95495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36347" y="4463796"/>
            <a:ext cx="9815307" cy="122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5"/>
              </a:lnSpc>
            </a:pPr>
            <a:r>
              <a:rPr lang="en-US" b="true" sz="7200" spc="705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신경망 기말 발표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36347" y="7367200"/>
            <a:ext cx="9815307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16"/>
              </a:lnSpc>
            </a:pPr>
            <a:r>
              <a:rPr lang="en-US" b="true" sz="3200" spc="313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한동윤, 강우현, 황지인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045">
            <a:off x="-402841" y="5307804"/>
            <a:ext cx="18804424" cy="8068807"/>
          </a:xfrm>
          <a:custGeom>
            <a:avLst/>
            <a:gdLst/>
            <a:ahLst/>
            <a:cxnLst/>
            <a:rect r="r" b="b" t="t" l="l"/>
            <a:pathLst>
              <a:path h="8068807" w="18804424">
                <a:moveTo>
                  <a:pt x="0" y="0"/>
                </a:moveTo>
                <a:lnTo>
                  <a:pt x="18804424" y="0"/>
                </a:lnTo>
                <a:lnTo>
                  <a:pt x="18804424" y="8068808"/>
                </a:lnTo>
                <a:lnTo>
                  <a:pt x="0" y="8068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900353" y="3653528"/>
            <a:ext cx="4113179" cy="5112057"/>
            <a:chOff x="0" y="0"/>
            <a:chExt cx="1279723" cy="15905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095033" y="3653528"/>
            <a:ext cx="4113179" cy="5112057"/>
            <a:chOff x="0" y="0"/>
            <a:chExt cx="1279723" cy="15905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6529" y="3653528"/>
            <a:ext cx="4113179" cy="5112057"/>
            <a:chOff x="0" y="0"/>
            <a:chExt cx="1279723" cy="15905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732628" y="4016965"/>
            <a:ext cx="1211702" cy="1322294"/>
          </a:xfrm>
          <a:custGeom>
            <a:avLst/>
            <a:gdLst/>
            <a:ahLst/>
            <a:cxnLst/>
            <a:rect r="r" b="b" t="t" l="l"/>
            <a:pathLst>
              <a:path h="1322294" w="1211702">
                <a:moveTo>
                  <a:pt x="0" y="0"/>
                </a:moveTo>
                <a:lnTo>
                  <a:pt x="1211702" y="0"/>
                </a:lnTo>
                <a:lnTo>
                  <a:pt x="1211702" y="1322294"/>
                </a:lnTo>
                <a:lnTo>
                  <a:pt x="0" y="1322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63658" y="4016965"/>
            <a:ext cx="1160684" cy="1393835"/>
          </a:xfrm>
          <a:custGeom>
            <a:avLst/>
            <a:gdLst/>
            <a:ahLst/>
            <a:cxnLst/>
            <a:rect r="r" b="b" t="t" l="l"/>
            <a:pathLst>
              <a:path h="1393835" w="1160684">
                <a:moveTo>
                  <a:pt x="0" y="0"/>
                </a:moveTo>
                <a:lnTo>
                  <a:pt x="1160684" y="0"/>
                </a:lnTo>
                <a:lnTo>
                  <a:pt x="1160684" y="1393835"/>
                </a:lnTo>
                <a:lnTo>
                  <a:pt x="0" y="1393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72985" y="3986188"/>
            <a:ext cx="1353071" cy="1353071"/>
          </a:xfrm>
          <a:custGeom>
            <a:avLst/>
            <a:gdLst/>
            <a:ahLst/>
            <a:cxnLst/>
            <a:rect r="r" b="b" t="t" l="l"/>
            <a:pathLst>
              <a:path h="1353071" w="1353071">
                <a:moveTo>
                  <a:pt x="0" y="0"/>
                </a:moveTo>
                <a:lnTo>
                  <a:pt x="1353071" y="0"/>
                </a:lnTo>
                <a:lnTo>
                  <a:pt x="1353071" y="1353071"/>
                </a:lnTo>
                <a:lnTo>
                  <a:pt x="0" y="1353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43797" y="1155414"/>
            <a:ext cx="13617940" cy="159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CONCLUSIONES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80860" y="7040851"/>
            <a:ext cx="3542623" cy="83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 spc="235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초반 코드 제작</a:t>
            </a:r>
          </a:p>
          <a:p>
            <a:pPr algn="ctr">
              <a:lnSpc>
                <a:spcPts val="3311"/>
              </a:lnSpc>
            </a:pPr>
            <a:r>
              <a:rPr lang="en-US" sz="2400" spc="235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PPT 제작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81455" y="7040851"/>
            <a:ext cx="3542623" cy="83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 spc="235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코드 완성</a:t>
            </a:r>
          </a:p>
          <a:p>
            <a:pPr algn="ctr">
              <a:lnSpc>
                <a:spcPts val="3311"/>
              </a:lnSpc>
            </a:pPr>
            <a:r>
              <a:rPr lang="en-US" sz="2400" spc="235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발표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1172" y="7040851"/>
            <a:ext cx="3542623" cy="83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 spc="235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코딩 서포트</a:t>
            </a:r>
          </a:p>
          <a:p>
            <a:pPr algn="ctr">
              <a:lnSpc>
                <a:spcPts val="3311"/>
              </a:lnSpc>
            </a:pPr>
            <a:r>
              <a:rPr lang="en-US" sz="2400" spc="235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발표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64725" y="5586604"/>
            <a:ext cx="2974893" cy="52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강우현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56554" y="5586604"/>
            <a:ext cx="2974893" cy="52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한동윤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75037" y="5586604"/>
            <a:ext cx="2974893" cy="52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황지인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-4012602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80992" y="3556399"/>
            <a:ext cx="1400485" cy="5402009"/>
            <a:chOff x="0" y="0"/>
            <a:chExt cx="368852" cy="14227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852" cy="1422751"/>
            </a:xfrm>
            <a:custGeom>
              <a:avLst/>
              <a:gdLst/>
              <a:ahLst/>
              <a:cxnLst/>
              <a:rect r="r" b="b" t="t" l="l"/>
              <a:pathLst>
                <a:path h="1422751" w="368852">
                  <a:moveTo>
                    <a:pt x="0" y="0"/>
                  </a:moveTo>
                  <a:lnTo>
                    <a:pt x="368852" y="0"/>
                  </a:lnTo>
                  <a:lnTo>
                    <a:pt x="368852" y="1422751"/>
                  </a:lnTo>
                  <a:lnTo>
                    <a:pt x="0" y="1422751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68852" cy="1441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80992" y="1036994"/>
            <a:ext cx="7416941" cy="168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b="true" sz="9981" spc="97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CONTENT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016048">
            <a:off x="12243487" y="-1005305"/>
            <a:ext cx="10749463" cy="2687366"/>
          </a:xfrm>
          <a:custGeom>
            <a:avLst/>
            <a:gdLst/>
            <a:ahLst/>
            <a:cxnLst/>
            <a:rect r="r" b="b" t="t" l="l"/>
            <a:pathLst>
              <a:path h="2687366" w="10749463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93025" y="3879886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3025" y="4677006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93025" y="5558163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3025" y="6355282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12626" y="7147659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12626" y="7978623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69102" y="3929548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목적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69102" y="4780321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프로젝트 구조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69102" y="5585214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방법론 &amp; 설계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69102" y="6455037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학습 과정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69102" y="7324860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분석 결과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69102" y="8089875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결론 및 향후 과제</a:t>
            </a: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262" y="6101928"/>
            <a:ext cx="16193038" cy="1714856"/>
          </a:xfrm>
          <a:custGeom>
            <a:avLst/>
            <a:gdLst/>
            <a:ahLst/>
            <a:cxnLst/>
            <a:rect r="r" b="b" t="t" l="l"/>
            <a:pathLst>
              <a:path h="1714856" w="16193038">
                <a:moveTo>
                  <a:pt x="0" y="0"/>
                </a:moveTo>
                <a:lnTo>
                  <a:pt x="16193038" y="0"/>
                </a:lnTo>
                <a:lnTo>
                  <a:pt x="16193038" y="1714857"/>
                </a:lnTo>
                <a:lnTo>
                  <a:pt x="0" y="1714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6262" y="3723397"/>
            <a:ext cx="15955743" cy="3235960"/>
            <a:chOff x="0" y="0"/>
            <a:chExt cx="3682024" cy="74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82024" cy="746746"/>
            </a:xfrm>
            <a:custGeom>
              <a:avLst/>
              <a:gdLst/>
              <a:ahLst/>
              <a:cxnLst/>
              <a:rect r="r" b="b" t="t" l="l"/>
              <a:pathLst>
                <a:path h="746746" w="3682024">
                  <a:moveTo>
                    <a:pt x="0" y="0"/>
                  </a:moveTo>
                  <a:lnTo>
                    <a:pt x="3682024" y="0"/>
                  </a:lnTo>
                  <a:lnTo>
                    <a:pt x="3682024" y="746746"/>
                  </a:lnTo>
                  <a:lnTo>
                    <a:pt x="0" y="746746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82024" cy="765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78768" y="4575665"/>
            <a:ext cx="1604697" cy="1628382"/>
          </a:xfrm>
          <a:custGeom>
            <a:avLst/>
            <a:gdLst/>
            <a:ahLst/>
            <a:cxnLst/>
            <a:rect r="r" b="b" t="t" l="l"/>
            <a:pathLst>
              <a:path h="1628382" w="1604697">
                <a:moveTo>
                  <a:pt x="0" y="0"/>
                </a:moveTo>
                <a:lnTo>
                  <a:pt x="1604697" y="0"/>
                </a:lnTo>
                <a:lnTo>
                  <a:pt x="1604697" y="1628383"/>
                </a:lnTo>
                <a:lnTo>
                  <a:pt x="0" y="1628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6262" y="876300"/>
            <a:ext cx="6381977" cy="145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52"/>
              </a:lnSpc>
            </a:pPr>
            <a:r>
              <a:rPr lang="en-US" b="true" sz="8588" spc="841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목적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45224" y="3998392"/>
            <a:ext cx="12676032" cy="6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학습 속도 개선: SGD, Adam 등 다양한 Optimizer 비교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초기값의 중요성: X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avier vs He Initialization 성능 평가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일반화 성능 확보: 배치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정규화 및 오버피팅 방지 기법 적용</a:t>
            </a:r>
          </a:p>
          <a:p>
            <a:pPr algn="l">
              <a:lnSpc>
                <a:spcPts val="4537"/>
              </a:lnSpc>
            </a:pPr>
          </a:p>
          <a:p>
            <a:pPr algn="l">
              <a:lnSpc>
                <a:spcPts val="4537"/>
              </a:lnSpc>
            </a:pPr>
          </a:p>
          <a:p>
            <a:pPr algn="l">
              <a:lnSpc>
                <a:spcPts val="4537"/>
              </a:lnSpc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"동일한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신경망 구조에서 최적화 전략이 모델의 수렴 속도와 최종 정확도에 미치는 영향을 정량적으로 분석합니다."</a:t>
            </a:r>
          </a:p>
          <a:p>
            <a:pPr algn="l">
              <a:lnSpc>
                <a:spcPts val="4668"/>
              </a:lnSpc>
            </a:pPr>
          </a:p>
          <a:p>
            <a:pPr algn="l" marL="0" indent="0" lvl="0">
              <a:lnSpc>
                <a:spcPts val="4798"/>
              </a:lnSpc>
              <a:spcBef>
                <a:spcPct val="0"/>
              </a:spcBef>
            </a:pPr>
          </a:p>
        </p:txBody>
      </p:sp>
      <p:sp>
        <p:nvSpPr>
          <p:cNvPr id="10" name="Freeform 10"/>
          <p:cNvSpPr/>
          <p:nvPr/>
        </p:nvSpPr>
        <p:spPr>
          <a:xfrm>
            <a:off x="-2779578" y="7386403"/>
            <a:ext cx="7616557" cy="7815497"/>
          </a:xfrm>
          <a:custGeom>
            <a:avLst/>
            <a:gd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4936" y="7891202"/>
            <a:ext cx="1268693" cy="1211025"/>
          </a:xfrm>
          <a:custGeom>
            <a:avLst/>
            <a:gdLst/>
            <a:ahLst/>
            <a:cxnLst/>
            <a:rect r="r" b="b" t="t" l="l"/>
            <a:pathLst>
              <a:path h="1211025" w="1268693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6315" y="793615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67511" y="82111"/>
            <a:ext cx="11552977" cy="116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프로젝트 구조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1453" y="1028700"/>
            <a:ext cx="4413123" cy="8229600"/>
          </a:xfrm>
          <a:custGeom>
            <a:avLst/>
            <a:gdLst/>
            <a:ahLst/>
            <a:cxnLst/>
            <a:rect r="r" b="b" t="t" l="l"/>
            <a:pathLst>
              <a:path h="8229600" w="4413123">
                <a:moveTo>
                  <a:pt x="0" y="0"/>
                </a:moveTo>
                <a:lnTo>
                  <a:pt x="4413123" y="0"/>
                </a:lnTo>
                <a:lnTo>
                  <a:pt x="441312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14576" y="2627119"/>
            <a:ext cx="12676032" cy="570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common/: 신경망 계층, 최적화 함수 등 공통 모듈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ata/: Fashion MNIST 데이터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utils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/: MNIST reader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dropout_compare_fashion : 드롭아웃 구현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train_fashion_mnist_team7 : pkl로 만들어짐</a:t>
            </a:r>
          </a:p>
          <a:p>
            <a:pPr algn="l" marL="0" indent="0" lvl="0">
              <a:lnSpc>
                <a:spcPts val="47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28700" y="4801028"/>
          <a:ext cx="16230600" cy="4614520"/>
        </p:xfrm>
        <a:graphic>
          <a:graphicData uri="http://schemas.openxmlformats.org/drawingml/2006/table">
            <a:tbl>
              <a:tblPr/>
              <a:tblGrid>
                <a:gridCol w="5483504"/>
                <a:gridCol w="10747096"/>
              </a:tblGrid>
              <a:tr h="922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계층 (Layeer)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b="true" sz="2599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설정 (Configuration)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</a:tr>
              <a:tr h="922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Input 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784 Nodes (28 x 28 Image Flattend)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Hidden Layers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4~5 Layers, 각각 100 Nodes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Activation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ReLU (Rectified Linear Unit)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64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Output 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 Nodes (Softmax Classification)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690980" y="1232286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방법론 &amp; 설계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687909"/>
            <a:ext cx="12676032" cy="115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7"/>
              </a:lnSpc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Multi-Layer Perceptron (MLP)</a:t>
            </a:r>
          </a:p>
          <a:p>
            <a:pPr algn="l" marL="0" indent="0" lvl="0">
              <a:lnSpc>
                <a:spcPts val="47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045">
            <a:off x="-402841" y="5307804"/>
            <a:ext cx="18804424" cy="8068807"/>
          </a:xfrm>
          <a:custGeom>
            <a:avLst/>
            <a:gdLst/>
            <a:ahLst/>
            <a:cxnLst/>
            <a:rect r="r" b="b" t="t" l="l"/>
            <a:pathLst>
              <a:path h="8068807" w="18804424">
                <a:moveTo>
                  <a:pt x="0" y="0"/>
                </a:moveTo>
                <a:lnTo>
                  <a:pt x="18804424" y="0"/>
                </a:lnTo>
                <a:lnTo>
                  <a:pt x="18804424" y="8068808"/>
                </a:lnTo>
                <a:lnTo>
                  <a:pt x="0" y="8068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900353" y="3653528"/>
            <a:ext cx="4113179" cy="5112057"/>
            <a:chOff x="0" y="0"/>
            <a:chExt cx="1279723" cy="15905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095033" y="3653528"/>
            <a:ext cx="4113179" cy="5112057"/>
            <a:chOff x="0" y="0"/>
            <a:chExt cx="1279723" cy="15905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9311" y="3653528"/>
            <a:ext cx="4113179" cy="5112057"/>
            <a:chOff x="0" y="0"/>
            <a:chExt cx="1279723" cy="15905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636536" y="3913118"/>
            <a:ext cx="1418728" cy="1431744"/>
          </a:xfrm>
          <a:custGeom>
            <a:avLst/>
            <a:gdLst/>
            <a:ahLst/>
            <a:cxnLst/>
            <a:rect r="r" b="b" t="t" l="l"/>
            <a:pathLst>
              <a:path h="1431744" w="1418728">
                <a:moveTo>
                  <a:pt x="0" y="0"/>
                </a:moveTo>
                <a:lnTo>
                  <a:pt x="1418728" y="0"/>
                </a:lnTo>
                <a:lnTo>
                  <a:pt x="1418728" y="1431744"/>
                </a:lnTo>
                <a:lnTo>
                  <a:pt x="0" y="1431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83540" y="3858374"/>
            <a:ext cx="1320921" cy="1541232"/>
          </a:xfrm>
          <a:custGeom>
            <a:avLst/>
            <a:gdLst/>
            <a:ahLst/>
            <a:cxnLst/>
            <a:rect r="r" b="b" t="t" l="l"/>
            <a:pathLst>
              <a:path h="1541232" w="1320921">
                <a:moveTo>
                  <a:pt x="0" y="0"/>
                </a:moveTo>
                <a:lnTo>
                  <a:pt x="1320920" y="0"/>
                </a:lnTo>
                <a:lnTo>
                  <a:pt x="1320920" y="1541232"/>
                </a:lnTo>
                <a:lnTo>
                  <a:pt x="0" y="1541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01323" y="3913118"/>
            <a:ext cx="1496396" cy="1541232"/>
          </a:xfrm>
          <a:custGeom>
            <a:avLst/>
            <a:gdLst/>
            <a:ahLst/>
            <a:cxnLst/>
            <a:rect r="r" b="b" t="t" l="l"/>
            <a:pathLst>
              <a:path h="1541232" w="1496396">
                <a:moveTo>
                  <a:pt x="0" y="0"/>
                </a:moveTo>
                <a:lnTo>
                  <a:pt x="1496396" y="0"/>
                </a:lnTo>
                <a:lnTo>
                  <a:pt x="1496396" y="1541233"/>
                </a:lnTo>
                <a:lnTo>
                  <a:pt x="0" y="15412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43797" y="1155414"/>
            <a:ext cx="13617940" cy="159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CONCLUSIONES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69450" y="7141876"/>
            <a:ext cx="3542623" cy="116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SGD: 기본 확률적 경사 하강법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Momentum: 관성 적용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AdaGrad: 학습률 적응형 조정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Adam: 모멘텀 + 적응형 학습률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81455" y="7141876"/>
            <a:ext cx="3542623" cy="116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Std=0.01: 표준편차 0.01 (가우시안)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Xavier: Sigmoid/Tanh에 최적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He: ReLU에 최적화된 초기값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78209" y="7141876"/>
            <a:ext cx="3542623" cy="116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Batch Normalization: 학습 안정화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Dropout: 뉴런 무작위 비활성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Weight Decay: L2 규제 적용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53315" y="5586604"/>
            <a:ext cx="2974893" cy="52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OPTIMIZERS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56554" y="5586604"/>
            <a:ext cx="2974893" cy="105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WEIGHT INITIALIZATION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62074" y="5818444"/>
            <a:ext cx="2974893" cy="105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REGULARIZATION</a:t>
            </a:r>
          </a:p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40942" y="91717"/>
            <a:ext cx="6806117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학습 과정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6475" y="3874342"/>
            <a:ext cx="12676032" cy="400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Hyperparameters</a:t>
            </a:r>
          </a:p>
          <a:p>
            <a:pPr algn="l">
              <a:lnSpc>
                <a:spcPts val="4416"/>
              </a:lnSpc>
            </a:pPr>
          </a:p>
          <a:p>
            <a:pPr algn="l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 spc="3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ataset: Fashion MNIST (60,000 Train / 10,000 Test)</a:t>
            </a:r>
          </a:p>
          <a:p>
            <a:pPr algn="l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 spc="3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Batch Size: 128</a:t>
            </a:r>
          </a:p>
          <a:p>
            <a:pPr algn="l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 spc="3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Iterations: 2,000 (약 20 Epochs)</a:t>
            </a:r>
          </a:p>
          <a:p>
            <a:pPr algn="l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 spc="3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Learning Rate: 0.01 (Optimizer별 미세 조정)</a:t>
            </a:r>
          </a:p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60017" y="-12044846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85607" y="-3917030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343437" y="5653664"/>
            <a:ext cx="12691034" cy="0"/>
          </a:xfrm>
          <a:prstGeom prst="line">
            <a:avLst/>
          </a:prstGeom>
          <a:ln cap="flat" w="28575">
            <a:solidFill>
              <a:srgbClr val="FDFBF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983811" y="5444323"/>
            <a:ext cx="420894" cy="4208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97790" y="3851370"/>
            <a:ext cx="1392935" cy="139293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  <a:r>
                <a:rPr lang="en-US" b="true" sz="5524" spc="541" strike="noStrike" u="none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27856" y="3851370"/>
            <a:ext cx="1392935" cy="139293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  <a:r>
                <a:rPr lang="en-US" b="true" sz="5524" spc="541" strike="noStrike" u="none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356928" y="3851370"/>
            <a:ext cx="1392935" cy="139293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  <a:r>
                <a:rPr lang="en-US" b="true" sz="5524" spc="541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286000" y="3851370"/>
            <a:ext cx="1392935" cy="139293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  <a:r>
                <a:rPr lang="en-US" b="true" sz="5524" spc="541" strike="noStrike" u="none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848405" y="6598520"/>
            <a:ext cx="2691704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Fashion MNIST 데이터 로드 및 정규화 (0~1.0)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38147" y="6017495"/>
            <a:ext cx="291222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 spc="244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DATA LOAD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913877" y="5444323"/>
            <a:ext cx="420894" cy="42089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845839" y="5444323"/>
            <a:ext cx="420894" cy="42089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777801" y="5444323"/>
            <a:ext cx="420894" cy="42089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747695" y="6598520"/>
            <a:ext cx="2691704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Affine -&gt; ReLU -&gt; ... -&gt; Softmax 계층 통과 및 Loss 계산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55459" y="6017495"/>
            <a:ext cx="227617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 spc="244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FORWARD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48950" y="6598520"/>
            <a:ext cx="2691704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오차역전파법(Backprop)을 통한 각 계층의 기울기(Gradient) 산출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87421" y="6017495"/>
            <a:ext cx="227617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 spc="244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BACKWARD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42396" y="6598520"/>
            <a:ext cx="2691704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Optimizer 규칙에 따라 가중치(Weights) 갱신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819383" y="6018681"/>
            <a:ext cx="227617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 spc="244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UPDATE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63674" y="91717"/>
            <a:ext cx="6806117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학습 과정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9702" y="3748509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6" y="0"/>
                </a:lnTo>
                <a:lnTo>
                  <a:pt x="8264686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40326" y="3749589"/>
            <a:ext cx="8813937" cy="5508711"/>
          </a:xfrm>
          <a:custGeom>
            <a:avLst/>
            <a:gdLst/>
            <a:ahLst/>
            <a:cxnLst/>
            <a:rect r="r" b="b" t="t" l="l"/>
            <a:pathLst>
              <a:path h="5508711" w="8813937">
                <a:moveTo>
                  <a:pt x="0" y="0"/>
                </a:moveTo>
                <a:lnTo>
                  <a:pt x="8813937" y="0"/>
                </a:lnTo>
                <a:lnTo>
                  <a:pt x="8813937" y="5508711"/>
                </a:lnTo>
                <a:lnTo>
                  <a:pt x="0" y="5508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6229" y="2393229"/>
            <a:ext cx="537554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Optimizer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2533" y="3748509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6" y="0"/>
                </a:lnTo>
                <a:lnTo>
                  <a:pt x="8264686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3748509"/>
            <a:ext cx="8815665" cy="5509791"/>
          </a:xfrm>
          <a:custGeom>
            <a:avLst/>
            <a:gdLst/>
            <a:ahLst/>
            <a:cxnLst/>
            <a:rect r="r" b="b" t="t" l="l"/>
            <a:pathLst>
              <a:path h="5509791" w="8815665">
                <a:moveTo>
                  <a:pt x="0" y="0"/>
                </a:moveTo>
                <a:lnTo>
                  <a:pt x="8815665" y="0"/>
                </a:lnTo>
                <a:lnTo>
                  <a:pt x="8815665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6229" y="2393229"/>
            <a:ext cx="537554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weight-decay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748509"/>
            <a:ext cx="8815665" cy="5509791"/>
          </a:xfrm>
          <a:custGeom>
            <a:avLst/>
            <a:gdLst/>
            <a:ahLst/>
            <a:cxnLst/>
            <a:rect r="r" b="b" t="t" l="l"/>
            <a:pathLst>
              <a:path h="5509791" w="8815665">
                <a:moveTo>
                  <a:pt x="0" y="0"/>
                </a:moveTo>
                <a:lnTo>
                  <a:pt x="8815665" y="0"/>
                </a:lnTo>
                <a:lnTo>
                  <a:pt x="8815665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7965" y="3748509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6" y="0"/>
                </a:lnTo>
                <a:lnTo>
                  <a:pt x="8264686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6229" y="2393229"/>
            <a:ext cx="537554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depth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1499" y="3929966"/>
            <a:ext cx="9010815" cy="5149037"/>
          </a:xfrm>
          <a:custGeom>
            <a:avLst/>
            <a:gdLst/>
            <a:ahLst/>
            <a:cxnLst/>
            <a:rect r="r" b="b" t="t" l="l"/>
            <a:pathLst>
              <a:path h="5149037" w="9010815">
                <a:moveTo>
                  <a:pt x="0" y="0"/>
                </a:moveTo>
                <a:lnTo>
                  <a:pt x="9010816" y="0"/>
                </a:lnTo>
                <a:lnTo>
                  <a:pt x="9010816" y="5149037"/>
                </a:lnTo>
                <a:lnTo>
                  <a:pt x="0" y="5149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52678" y="3929966"/>
            <a:ext cx="8238460" cy="5149037"/>
          </a:xfrm>
          <a:custGeom>
            <a:avLst/>
            <a:gdLst/>
            <a:ahLst/>
            <a:cxnLst/>
            <a:rect r="r" b="b" t="t" l="l"/>
            <a:pathLst>
              <a:path h="5149037" w="8238460">
                <a:moveTo>
                  <a:pt x="0" y="0"/>
                </a:moveTo>
                <a:lnTo>
                  <a:pt x="8238460" y="0"/>
                </a:lnTo>
                <a:lnTo>
                  <a:pt x="8238460" y="5149037"/>
                </a:lnTo>
                <a:lnTo>
                  <a:pt x="0" y="5149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6229" y="2393229"/>
            <a:ext cx="537554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activation_init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43514" y="3507692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2" y="0"/>
                </a:lnTo>
                <a:lnTo>
                  <a:pt x="9200972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24247" y="2272820"/>
            <a:ext cx="8923048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dropout_compare_accuracy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0980" y="801402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805406"/>
            <a:ext cx="16230600" cy="2457673"/>
            <a:chOff x="0" y="0"/>
            <a:chExt cx="21640800" cy="32768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3773151" cy="3276898"/>
              <a:chOff x="0" y="0"/>
              <a:chExt cx="745314" cy="64728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45314" cy="647288"/>
              </a:xfrm>
              <a:custGeom>
                <a:avLst/>
                <a:gdLst/>
                <a:ahLst/>
                <a:cxnLst/>
                <a:rect r="r" b="b" t="t" l="l"/>
                <a:pathLst>
                  <a:path h="647288" w="745314">
                    <a:moveTo>
                      <a:pt x="0" y="0"/>
                    </a:moveTo>
                    <a:lnTo>
                      <a:pt x="745314" y="0"/>
                    </a:lnTo>
                    <a:lnTo>
                      <a:pt x="745314" y="647288"/>
                    </a:lnTo>
                    <a:lnTo>
                      <a:pt x="0" y="647288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45314" cy="7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  <a:r>
                  <a:rPr lang="en-US" sz="2981" spc="29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He의 우수성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773151" y="0"/>
              <a:ext cx="17867649" cy="3276898"/>
              <a:chOff x="0" y="0"/>
              <a:chExt cx="2587900" cy="474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587900" cy="474617"/>
              </a:xfrm>
              <a:custGeom>
                <a:avLst/>
                <a:gdLst/>
                <a:ahLst/>
                <a:cxnLst/>
                <a:rect r="r" b="b" t="t" l="l"/>
                <a:pathLst>
                  <a:path h="474617" w="2587900">
                    <a:moveTo>
                      <a:pt x="0" y="0"/>
                    </a:moveTo>
                    <a:lnTo>
                      <a:pt x="2587900" y="0"/>
                    </a:lnTo>
                    <a:lnTo>
                      <a:pt x="2587900" y="474617"/>
                    </a:lnTo>
                    <a:lnTo>
                      <a:pt x="0" y="47461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9050"/>
                <a:ext cx="2587900" cy="4936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3858563" y="3906459"/>
            <a:ext cx="12777470" cy="221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Std=0.01: 활성화 값이 0에 치우쳐 기울기 소실(Vanishing Gradient) 발생. 학습 실패.</a:t>
            </a: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Xavier: Sigmoid에 적합하나, ReLU에서는 층이 깊어질수록 값이 치우침.</a:t>
            </a: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He Init: ReLU에 최적화된 초기값. 넓은 분포를 유지하여 깊은 신경망에서도 학습이 원활함.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7120329"/>
            <a:ext cx="16230600" cy="2457673"/>
            <a:chOff x="0" y="0"/>
            <a:chExt cx="21640800" cy="327689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3773151" cy="3276898"/>
              <a:chOff x="0" y="0"/>
              <a:chExt cx="745314" cy="64728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45314" cy="647288"/>
              </a:xfrm>
              <a:custGeom>
                <a:avLst/>
                <a:gdLst/>
                <a:ahLst/>
                <a:cxnLst/>
                <a:rect r="r" b="b" t="t" l="l"/>
                <a:pathLst>
                  <a:path h="647288" w="745314">
                    <a:moveTo>
                      <a:pt x="0" y="0"/>
                    </a:moveTo>
                    <a:lnTo>
                      <a:pt x="745314" y="0"/>
                    </a:lnTo>
                    <a:lnTo>
                      <a:pt x="745314" y="647288"/>
                    </a:lnTo>
                    <a:lnTo>
                      <a:pt x="0" y="647288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745314" cy="7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  <a:r>
                  <a:rPr lang="en-US" sz="2981" spc="29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Batch Normalization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773151" y="0"/>
              <a:ext cx="17867649" cy="3276898"/>
              <a:chOff x="0" y="0"/>
              <a:chExt cx="2587900" cy="47461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587900" cy="474617"/>
              </a:xfrm>
              <a:custGeom>
                <a:avLst/>
                <a:gdLst/>
                <a:ahLst/>
                <a:cxnLst/>
                <a:rect r="r" b="b" t="t" l="l"/>
                <a:pathLst>
                  <a:path h="474617" w="2587900">
                    <a:moveTo>
                      <a:pt x="0" y="0"/>
                    </a:moveTo>
                    <a:lnTo>
                      <a:pt x="2587900" y="0"/>
                    </a:lnTo>
                    <a:lnTo>
                      <a:pt x="2587900" y="474617"/>
                    </a:lnTo>
                    <a:lnTo>
                      <a:pt x="0" y="47461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2587900" cy="4936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3858563" y="7221383"/>
            <a:ext cx="12777470" cy="221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학습 속도 가속: 훨씬 적은 Epoch으로 높은 정확도 도달.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초기값 의존도 감소: 가중치 초기값에 덜 민감하게 반응하여 안정적 학습 가능.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규제 효과: Dropout 없이도 오버피팅 억제 효과 일부 존재.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0980" y="801402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결론 및 향후 과제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805406"/>
            <a:ext cx="2829863" cy="5452894"/>
            <a:chOff x="0" y="0"/>
            <a:chExt cx="745314" cy="14361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5314" cy="1436153"/>
            </a:xfrm>
            <a:custGeom>
              <a:avLst/>
              <a:gdLst/>
              <a:ahLst/>
              <a:cxnLst/>
              <a:rect r="r" b="b" t="t" l="l"/>
              <a:pathLst>
                <a:path h="1436153" w="745314">
                  <a:moveTo>
                    <a:pt x="0" y="0"/>
                  </a:moveTo>
                  <a:lnTo>
                    <a:pt x="745314" y="0"/>
                  </a:lnTo>
                  <a:lnTo>
                    <a:pt x="745314" y="1436153"/>
                  </a:lnTo>
                  <a:lnTo>
                    <a:pt x="0" y="143615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45314" cy="1493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최종 요약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58563" y="3805406"/>
            <a:ext cx="13400737" cy="5452894"/>
            <a:chOff x="0" y="0"/>
            <a:chExt cx="2587900" cy="10530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7900" cy="1053043"/>
            </a:xfrm>
            <a:custGeom>
              <a:avLst/>
              <a:gdLst/>
              <a:ahLst/>
              <a:cxnLst/>
              <a:rect r="r" b="b" t="t" l="l"/>
              <a:pathLst>
                <a:path h="1053043" w="2587900">
                  <a:moveTo>
                    <a:pt x="0" y="0"/>
                  </a:moveTo>
                  <a:lnTo>
                    <a:pt x="2587900" y="0"/>
                  </a:lnTo>
                  <a:lnTo>
                    <a:pt x="2587900" y="1053043"/>
                  </a:lnTo>
                  <a:lnTo>
                    <a:pt x="0" y="10530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587900" cy="1072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858563" y="4732557"/>
            <a:ext cx="13234099" cy="356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Optimizer: Adam이 Fashion MNIST 데이터셋에서 가장 빠르고 안정적인 수렴을 보여줌.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Weight Init: ReLU 활성화 함수 사용 시 He Initialization이 필수적임.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Batch Norm: 학습 시간을 획기적으로 단축시키며, 초기값 설정 실패 확률을 낮춤.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종합: Adam + He Init + Batch Normalization 조합이 최적의 성능을 발휘함.</a:t>
            </a:r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11120" y="-4076108"/>
            <a:ext cx="9333423" cy="9577206"/>
          </a:xfrm>
          <a:custGeom>
            <a:avLst/>
            <a:gdLst/>
            <a:ahLst/>
            <a:cxnLst/>
            <a:rect r="r" b="b" t="t" l="l"/>
            <a:pathLst>
              <a:path h="9577206" w="9333423">
                <a:moveTo>
                  <a:pt x="0" y="0"/>
                </a:moveTo>
                <a:lnTo>
                  <a:pt x="9333422" y="0"/>
                </a:lnTo>
                <a:lnTo>
                  <a:pt x="9333422" y="9577207"/>
                </a:lnTo>
                <a:lnTo>
                  <a:pt x="0" y="9577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63037" y="-5866298"/>
            <a:ext cx="9333423" cy="9577206"/>
          </a:xfrm>
          <a:custGeom>
            <a:avLst/>
            <a:gdLst/>
            <a:ahLst/>
            <a:cxnLst/>
            <a:rect r="r" b="b" t="t" l="l"/>
            <a:pathLst>
              <a:path h="9577206" w="9333423">
                <a:moveTo>
                  <a:pt x="0" y="0"/>
                </a:moveTo>
                <a:lnTo>
                  <a:pt x="9333423" y="0"/>
                </a:lnTo>
                <a:lnTo>
                  <a:pt x="9333423" y="9577206"/>
                </a:lnTo>
                <a:lnTo>
                  <a:pt x="0" y="9577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87814">
            <a:off x="14993922" y="7627206"/>
            <a:ext cx="7634959" cy="7834379"/>
          </a:xfrm>
          <a:custGeom>
            <a:avLst/>
            <a:gdLst/>
            <a:ahLst/>
            <a:cxnLst/>
            <a:rect r="r" b="b" t="t" l="l"/>
            <a:pathLst>
              <a:path h="7834379" w="7634959">
                <a:moveTo>
                  <a:pt x="0" y="0"/>
                </a:moveTo>
                <a:lnTo>
                  <a:pt x="7634958" y="0"/>
                </a:lnTo>
                <a:lnTo>
                  <a:pt x="7634958" y="7834379"/>
                </a:lnTo>
                <a:lnTo>
                  <a:pt x="0" y="78343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176364">
            <a:off x="-4084727" y="8222639"/>
            <a:ext cx="8815232" cy="9045480"/>
          </a:xfrm>
          <a:custGeom>
            <a:avLst/>
            <a:gdLst/>
            <a:ahLst/>
            <a:cxnLst/>
            <a:rect r="r" b="b" t="t" l="l"/>
            <a:pathLst>
              <a:path h="9045480" w="8815232">
                <a:moveTo>
                  <a:pt x="0" y="0"/>
                </a:moveTo>
                <a:lnTo>
                  <a:pt x="8815232" y="0"/>
                </a:lnTo>
                <a:lnTo>
                  <a:pt x="8815232" y="9045481"/>
                </a:lnTo>
                <a:lnTo>
                  <a:pt x="0" y="90454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51895" y="3590577"/>
            <a:ext cx="1875438" cy="1790191"/>
          </a:xfrm>
          <a:custGeom>
            <a:avLst/>
            <a:gdLst/>
            <a:rect l="l" t="t" r="r" b="b"/>
            <a:pathLst>
              <a:path w="1875438" h="1790191">
                <a:moveTo>
                  <a:pt x="0" y="0"/>
                </a:moveTo>
                <a:lnTo>
                  <a:pt x="1875438" y="0"/>
                </a:lnTo>
                <a:lnTo>
                  <a:pt x="1875438" y="1790190"/>
                </a:lnTo>
                <a:lnTo>
                  <a:pt x="0" y="17901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563071" y="3590577"/>
            <a:ext cx="1985090" cy="1790191"/>
          </a:xfrm>
          <a:custGeom>
            <a:avLst/>
            <a:gdLst/>
            <a:rect l="l" t="t" r="r" b="b"/>
            <a:pathLst>
              <a:path w="1985090" h="1790191">
                <a:moveTo>
                  <a:pt x="0" y="0"/>
                </a:moveTo>
                <a:lnTo>
                  <a:pt x="1985090" y="0"/>
                </a:lnTo>
                <a:lnTo>
                  <a:pt x="1985090" y="1790190"/>
                </a:lnTo>
                <a:lnTo>
                  <a:pt x="0" y="17901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82625" y="6573931"/>
            <a:ext cx="4262371" cy="10047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ctr">
              <a:lnSpc>
                <a:spcPts val="2728"/>
              </a:lnSpc>
              <a:spcBef>
                <a:spcPct val="0"/>
              </a:spcBef>
              <a:defRPr/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회전, 이동, 반전 등을 통한 데이터 증강으로 모델의 일반화 성능 추가 확보</a:t>
            </a:r>
            <a:endParaRPr lang="en-US" sz="1977" spc="193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758429" y="6573931"/>
            <a:ext cx="4262371" cy="100473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2728"/>
              </a:lnSpc>
              <a:spcBef>
                <a:spcPct val="0"/>
              </a:spcBef>
              <a:defRPr/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Random Search 또는 Bayesian Optimization을 활용한 체계적인 하이퍼파라미터 최적화</a:t>
            </a:r>
            <a:endParaRPr lang="en-US" sz="1977" spc="193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name="TextBox 12" id="12"/>
          <p:cNvSpPr txBox="true"/>
          <p:nvPr/>
        </p:nvSpPr>
        <p:spPr>
          <a:xfrm rot="0">
            <a:off x="3690980" y="801402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결론 및 향후 과제</a:t>
            </a:r>
          </a:p>
        </p:txBody>
      </p:sp>
      <p:grpSp>
        <p:nvGrpSpPr>
          <p:cNvPr id="13" name="Group 13"/>
          <p:cNvGrpSpPr/>
          <p:nvPr/>
        </p:nvGrpSpPr>
        <p:grpSpPr>
          <a:xfrm rot="0">
            <a:off x="9646050" y="5143500"/>
            <a:ext cx="4510382" cy="1677989"/>
            <a:chOff x="0" y="-148815"/>
            <a:chExt cx="1207710" cy="4493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01485" cy="211178"/>
            </a:xfrm>
            <a:custGeom>
              <a:avLst/>
              <a:gdLst/>
              <a:rect l="l" t="t" r="r" b="b"/>
              <a:pathLst>
                <a:path w="1201485" h="211178">
                  <a:moveTo>
                    <a:pt x="31056" y="0"/>
                  </a:moveTo>
                  <a:lnTo>
                    <a:pt x="1170429" y="0"/>
                  </a:lnTo>
                  <a:cubicBezTo>
                    <a:pt x="1178666" y="0"/>
                    <a:pt x="1186565" y="3272"/>
                    <a:pt x="1192389" y="9096"/>
                  </a:cubicBezTo>
                  <a:cubicBezTo>
                    <a:pt x="1198213" y="14920"/>
                    <a:pt x="1201485" y="22820"/>
                    <a:pt x="1201485" y="31056"/>
                  </a:cubicBezTo>
                  <a:lnTo>
                    <a:pt x="1201485" y="180121"/>
                  </a:lnTo>
                  <a:cubicBezTo>
                    <a:pt x="1201485" y="197273"/>
                    <a:pt x="1187581" y="211178"/>
                    <a:pt x="1170429" y="211178"/>
                  </a:cubicBezTo>
                  <a:lnTo>
                    <a:pt x="31056" y="211178"/>
                  </a:lnTo>
                  <a:cubicBezTo>
                    <a:pt x="13904" y="211178"/>
                    <a:pt x="0" y="197273"/>
                    <a:pt x="0" y="180121"/>
                  </a:cubicBezTo>
                  <a:lnTo>
                    <a:pt x="0" y="31056"/>
                  </a:lnTo>
                  <a:cubicBezTo>
                    <a:pt x="0" y="13904"/>
                    <a:pt x="13904" y="0"/>
                    <a:pt x="31056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6225" y="-148815"/>
              <a:ext cx="1201485" cy="44930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  <a:defRPr/>
              </a:pPr>
              <a:r>
                <a:rPr lang="en-US" sz="2524" b="1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Hyperparameter Tuning</a:t>
              </a:r>
              <a:endParaRPr lang="en-US" sz="2524" b="1" spc="146">
                <a:solidFill>
                  <a:srgbClr val="131211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4312050" y="5143500"/>
            <a:ext cx="4487133" cy="1677989"/>
            <a:chOff x="0" y="-148815"/>
            <a:chExt cx="1201485" cy="4493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01485" cy="211178"/>
            </a:xfrm>
            <a:custGeom>
              <a:avLst/>
              <a:gdLst/>
              <a:rect l="l" t="t" r="r" b="b"/>
              <a:pathLst>
                <a:path w="1201485" h="211178">
                  <a:moveTo>
                    <a:pt x="31056" y="0"/>
                  </a:moveTo>
                  <a:lnTo>
                    <a:pt x="1170429" y="0"/>
                  </a:lnTo>
                  <a:cubicBezTo>
                    <a:pt x="1178666" y="0"/>
                    <a:pt x="1186565" y="3272"/>
                    <a:pt x="1192389" y="9096"/>
                  </a:cubicBezTo>
                  <a:cubicBezTo>
                    <a:pt x="1198213" y="14920"/>
                    <a:pt x="1201485" y="22820"/>
                    <a:pt x="1201485" y="31056"/>
                  </a:cubicBezTo>
                  <a:lnTo>
                    <a:pt x="1201485" y="180121"/>
                  </a:lnTo>
                  <a:cubicBezTo>
                    <a:pt x="1201485" y="197273"/>
                    <a:pt x="1187581" y="211178"/>
                    <a:pt x="1170429" y="211178"/>
                  </a:cubicBezTo>
                  <a:lnTo>
                    <a:pt x="31056" y="211178"/>
                  </a:lnTo>
                  <a:cubicBezTo>
                    <a:pt x="13904" y="211178"/>
                    <a:pt x="0" y="197273"/>
                    <a:pt x="0" y="180121"/>
                  </a:cubicBezTo>
                  <a:lnTo>
                    <a:pt x="0" y="31056"/>
                  </a:lnTo>
                  <a:cubicBezTo>
                    <a:pt x="0" y="13904"/>
                    <a:pt x="13904" y="0"/>
                    <a:pt x="31056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48815"/>
              <a:ext cx="1201485" cy="44930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  <a:defRPr/>
              </a:pPr>
              <a:r>
                <a:rPr lang="en-US" sz="2524" b="1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 Augmentation</a:t>
              </a:r>
              <a:endParaRPr lang="en-US" sz="2524" b="1" spc="146">
                <a:solidFill>
                  <a:srgbClr val="131211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80377">
            <a:off x="12420356" y="-10209431"/>
            <a:ext cx="24036383" cy="24664199"/>
          </a:xfrm>
          <a:custGeom>
            <a:avLst/>
            <a:gdLst/>
            <a:ahLst/>
            <a:cxnLst/>
            <a:rect r="r" b="b" t="t" l="l"/>
            <a:pathLst>
              <a:path h="24664199" w="24036383">
                <a:moveTo>
                  <a:pt x="0" y="0"/>
                </a:moveTo>
                <a:lnTo>
                  <a:pt x="24036383" y="0"/>
                </a:lnTo>
                <a:lnTo>
                  <a:pt x="24036383" y="24664199"/>
                </a:lnTo>
                <a:lnTo>
                  <a:pt x="0" y="2466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254153" y="7476061"/>
            <a:ext cx="11881594" cy="3564478"/>
          </a:xfrm>
          <a:custGeom>
            <a:avLst/>
            <a:gdLst/>
            <a:ahLst/>
            <a:cxnLst/>
            <a:rect r="r" b="b" t="t" l="l"/>
            <a:pathLst>
              <a:path h="3564478" w="11881594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274987"/>
            <a:ext cx="7252471" cy="7544833"/>
          </a:xfrm>
          <a:custGeom>
            <a:avLst/>
            <a:gdLst/>
            <a:ahLst/>
            <a:cxnLst/>
            <a:rect r="r" b="b" t="t" l="l"/>
            <a:pathLst>
              <a:path h="7544833" w="7252471">
                <a:moveTo>
                  <a:pt x="0" y="0"/>
                </a:moveTo>
                <a:lnTo>
                  <a:pt x="7252471" y="0"/>
                </a:lnTo>
                <a:lnTo>
                  <a:pt x="7252471" y="7544833"/>
                </a:lnTo>
                <a:lnTo>
                  <a:pt x="0" y="7544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23925"/>
            <a:ext cx="5436444" cy="106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38"/>
              </a:lnSpc>
              <a:spcBef>
                <a:spcPct val="0"/>
              </a:spcBef>
            </a:pPr>
            <a:r>
              <a:rPr lang="en-US" b="true" sz="6332" spc="62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협업 과정</a:t>
            </a:r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95400" y="4678861"/>
            <a:ext cx="16193038" cy="419456"/>
          </a:xfrm>
          <a:custGeom>
            <a:avLst/>
            <a:gdLst/>
            <a:rect l="l" t="t" r="r" b="b"/>
            <a:pathLst>
              <a:path w="16193038" h="1714856">
                <a:moveTo>
                  <a:pt x="0" y="0"/>
                </a:moveTo>
                <a:lnTo>
                  <a:pt x="16193038" y="0"/>
                </a:lnTo>
                <a:lnTo>
                  <a:pt x="16193038" y="1714857"/>
                </a:lnTo>
                <a:lnTo>
                  <a:pt x="0" y="171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86495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166128" y="3162299"/>
            <a:ext cx="15955743" cy="1676400"/>
            <a:chOff x="0" y="0"/>
            <a:chExt cx="3682024" cy="7467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82024" cy="746746"/>
            </a:xfrm>
            <a:custGeom>
              <a:avLst/>
              <a:gdLst/>
              <a:rect l="l" t="t" r="r" b="b"/>
              <a:pathLst>
                <a:path w="3682024" h="746746">
                  <a:moveTo>
                    <a:pt x="0" y="0"/>
                  </a:moveTo>
                  <a:lnTo>
                    <a:pt x="3682024" y="0"/>
                  </a:lnTo>
                  <a:lnTo>
                    <a:pt x="3682024" y="746746"/>
                  </a:lnTo>
                  <a:lnTo>
                    <a:pt x="0" y="746746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682024" cy="765796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859"/>
                </a:lnSpc>
                <a:defRPr/>
              </a:pPr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66262" y="876300"/>
            <a:ext cx="6381977" cy="151447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1852"/>
              </a:lnSpc>
              <a:defRPr/>
            </a:pPr>
            <a:r>
              <a:rPr lang="ko-KR" altLang="en-US" sz="8588" b="1" spc="841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소감</a:t>
            </a:r>
            <a:endParaRPr lang="ko-KR" altLang="en-US" sz="8588" b="1" spc="841">
              <a:solidFill>
                <a:srgbClr val="231f20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57299" y="3429000"/>
            <a:ext cx="15773400" cy="23526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354941" lvl="1" indent="0" algn="l">
              <a:lnSpc>
                <a:spcPts val="4537"/>
              </a:lnSpc>
              <a:buFont typeface="Arial"/>
              <a:buNone/>
              <a:defRPr/>
            </a:pPr>
            <a:r>
              <a:rPr lang="ko-KR" alt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강우현 </a:t>
            </a:r>
            <a:r>
              <a:rPr lang="en-US" altLang="ko-KR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ko-KR" alt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팀원과의 소통 문제가 있었지만 잘 해결해나가며 협업하는 과정이 인상 깊었습니다</a:t>
            </a:r>
            <a:r>
              <a:rPr lang="en-US" altLang="ko-KR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altLang="ko-KR" sz="3288" spc="322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l">
              <a:lnSpc>
                <a:spcPts val="4668"/>
              </a:lnSpc>
              <a:defRPr/>
            </a:pPr>
            <a:endParaRPr lang="en-US" sz="3288" spc="322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4798"/>
              </a:lnSpc>
              <a:spcBef>
                <a:spcPct val="0"/>
              </a:spcBef>
              <a:defRPr/>
            </a:pPr>
            <a:endParaRPr lang="en-US" sz="3288" spc="322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2779578" y="7386403"/>
            <a:ext cx="7616557" cy="7815497"/>
          </a:xfrm>
          <a:custGeom>
            <a:avLst/>
            <a:gd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</p:spPr>
      </p:sp>
      <p:sp>
        <p:nvSpPr>
          <p:cNvPr id="17" name="Freeform 3"/>
          <p:cNvSpPr/>
          <p:nvPr/>
        </p:nvSpPr>
        <p:spPr>
          <a:xfrm>
            <a:off x="1047480" y="6819900"/>
            <a:ext cx="16193038" cy="419456"/>
          </a:xfrm>
          <a:custGeom>
            <a:avLst/>
            <a:gdLst/>
            <a:rect l="l" t="t" r="r" b="b"/>
            <a:pathLst>
              <a:path w="16193038" h="1714856">
                <a:moveTo>
                  <a:pt x="0" y="0"/>
                </a:moveTo>
                <a:lnTo>
                  <a:pt x="16193038" y="0"/>
                </a:lnTo>
                <a:lnTo>
                  <a:pt x="16193038" y="1714857"/>
                </a:lnTo>
                <a:lnTo>
                  <a:pt x="0" y="171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t="-86495"/>
            </a:stretch>
          </a:blipFill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grpSp>
        <p:nvGrpSpPr>
          <p:cNvPr id="11" name="Group 4"/>
          <p:cNvGrpSpPr/>
          <p:nvPr/>
        </p:nvGrpSpPr>
        <p:grpSpPr>
          <a:xfrm rot="0">
            <a:off x="1166127" y="5274351"/>
            <a:ext cx="15955743" cy="1676400"/>
            <a:chOff x="0" y="0"/>
            <a:chExt cx="3682024" cy="746746"/>
          </a:xfrm>
        </p:grpSpPr>
        <p:sp>
          <p:nvSpPr>
            <p:cNvPr id="12" name="Freeform 5"/>
            <p:cNvSpPr/>
            <p:nvPr/>
          </p:nvSpPr>
          <p:spPr>
            <a:xfrm>
              <a:off x="0" y="0"/>
              <a:ext cx="3682024" cy="746746"/>
            </a:xfrm>
            <a:custGeom>
              <a:avLst/>
              <a:gdLst/>
              <a:rect l="l" t="t" r="r" b="b"/>
              <a:pathLst>
                <a:path w="3682024" h="746746">
                  <a:moveTo>
                    <a:pt x="0" y="0"/>
                  </a:moveTo>
                  <a:lnTo>
                    <a:pt x="3682024" y="0"/>
                  </a:lnTo>
                  <a:lnTo>
                    <a:pt x="3682024" y="746746"/>
                  </a:lnTo>
                  <a:lnTo>
                    <a:pt x="0" y="746746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13" name="TextBox 6"/>
            <p:cNvSpPr txBox="1"/>
            <p:nvPr/>
          </p:nvSpPr>
          <p:spPr>
            <a:xfrm>
              <a:off x="0" y="-19050"/>
              <a:ext cx="3682024" cy="765796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859"/>
                </a:lnSpc>
                <a:defRPr/>
              </a:pPr>
              <a:endParaRPr lang="ko-KR" altLang="en-US"/>
            </a:p>
          </p:txBody>
        </p:sp>
      </p:grpSp>
      <p:sp>
        <p:nvSpPr>
          <p:cNvPr id="18" name="Freeform 3"/>
          <p:cNvSpPr/>
          <p:nvPr/>
        </p:nvSpPr>
        <p:spPr>
          <a:xfrm>
            <a:off x="1047480" y="8915044"/>
            <a:ext cx="16193038" cy="419456"/>
          </a:xfrm>
          <a:custGeom>
            <a:avLst/>
            <a:gdLst/>
            <a:rect l="l" t="t" r="r" b="b"/>
            <a:pathLst>
              <a:path w="16193038" h="1714856">
                <a:moveTo>
                  <a:pt x="0" y="0"/>
                </a:moveTo>
                <a:lnTo>
                  <a:pt x="16193038" y="0"/>
                </a:lnTo>
                <a:lnTo>
                  <a:pt x="16193038" y="1714857"/>
                </a:lnTo>
                <a:lnTo>
                  <a:pt x="0" y="171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t="-86495"/>
            </a:stretch>
          </a:blipFill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grpSp>
        <p:nvGrpSpPr>
          <p:cNvPr id="14" name="Group 4"/>
          <p:cNvGrpSpPr/>
          <p:nvPr/>
        </p:nvGrpSpPr>
        <p:grpSpPr>
          <a:xfrm rot="0">
            <a:off x="1166128" y="7386403"/>
            <a:ext cx="15955743" cy="1676400"/>
            <a:chOff x="0" y="0"/>
            <a:chExt cx="3682024" cy="746746"/>
          </a:xfrm>
        </p:grpSpPr>
        <p:sp>
          <p:nvSpPr>
            <p:cNvPr id="15" name="Freeform 5"/>
            <p:cNvSpPr/>
            <p:nvPr/>
          </p:nvSpPr>
          <p:spPr>
            <a:xfrm>
              <a:off x="0" y="0"/>
              <a:ext cx="3682024" cy="746746"/>
            </a:xfrm>
            <a:custGeom>
              <a:avLst/>
              <a:gdLst/>
              <a:rect l="l" t="t" r="r" b="b"/>
              <a:pathLst>
                <a:path w="3682024" h="746746">
                  <a:moveTo>
                    <a:pt x="0" y="0"/>
                  </a:moveTo>
                  <a:lnTo>
                    <a:pt x="3682024" y="0"/>
                  </a:lnTo>
                  <a:lnTo>
                    <a:pt x="3682024" y="746746"/>
                  </a:lnTo>
                  <a:lnTo>
                    <a:pt x="0" y="746746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16" name="TextBox 6"/>
            <p:cNvSpPr txBox="1"/>
            <p:nvPr/>
          </p:nvSpPr>
          <p:spPr>
            <a:xfrm>
              <a:off x="0" y="-19050"/>
              <a:ext cx="3682024" cy="765796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859"/>
                </a:lnSpc>
                <a:defRPr/>
              </a:pPr>
              <a:endParaRPr lang="ko-KR" altLang="en-US"/>
            </a:p>
          </p:txBody>
        </p:sp>
      </p:grpSp>
      <p:sp>
        <p:nvSpPr>
          <p:cNvPr id="20" name="TextBox 9"/>
          <p:cNvSpPr txBox="1"/>
          <p:nvPr/>
        </p:nvSpPr>
        <p:spPr>
          <a:xfrm>
            <a:off x="1142999" y="5610224"/>
            <a:ext cx="16992600" cy="17437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354941" lvl="1" indent="0" algn="l" defTabSz="914400" rtl="0" eaLnBrk="1" latinLnBrk="0" hangingPunct="1">
              <a:lnSpc>
                <a:spcPts val="4537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ko-KR" alt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한동윤 </a:t>
            </a:r>
            <a:r>
              <a:rPr lang="en-US" altLang="ko-KR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ko-KR" alt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배울 내용이 많아서 처음에는 어려웠지만</a:t>
            </a:r>
            <a:r>
              <a:rPr lang="en-US" altLang="ko-KR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ko-KR" alt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직접 실험하고 눈으로 성능 차이를 팀원들과 확인해보며</a:t>
            </a:r>
            <a:r>
              <a:rPr lang="en-US" altLang="ko-KR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ko-KR" alt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신경망에 대한 이해도가 확실히 높아졌습니다</a:t>
            </a:r>
            <a:r>
              <a:rPr lang="en-US" altLang="ko-KR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altLang="ko-KR" sz="3288" spc="322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4798"/>
              </a:lnSpc>
              <a:spcBef>
                <a:spcPct val="0"/>
              </a:spcBef>
              <a:defRPr/>
            </a:pPr>
            <a:endParaRPr lang="en-US" sz="3288" spc="322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" name="TextBox 9"/>
          <p:cNvSpPr txBox="1"/>
          <p:nvPr/>
        </p:nvSpPr>
        <p:spPr>
          <a:xfrm>
            <a:off x="1143000" y="7676081"/>
            <a:ext cx="15849600" cy="234421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354941" lvl="1" indent="0" algn="l">
              <a:lnSpc>
                <a:spcPts val="4537"/>
              </a:lnSpc>
              <a:buFont typeface="Arial"/>
              <a:buNone/>
              <a:defRPr/>
            </a:pPr>
            <a:r>
              <a:rPr lang="ko-KR" alt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황지인 </a:t>
            </a:r>
            <a:r>
              <a:rPr lang="en-US" altLang="ko-KR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ko-KR" alt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팀플을 통해 수업 때 배운 내용을 활용할 수 있어서 신경망 공부에 도움이 되었습니다</a:t>
            </a:r>
            <a:r>
              <a:rPr lang="en-US" altLang="ko-KR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ko-KR" alt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lang="ko-KR" altLang="en-US" sz="3288" spc="322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l">
              <a:lnSpc>
                <a:spcPts val="4668"/>
              </a:lnSpc>
              <a:defRPr/>
            </a:pPr>
            <a:endParaRPr lang="en-US" sz="3288" spc="322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4798"/>
              </a:lnSpc>
              <a:spcBef>
                <a:spcPct val="0"/>
              </a:spcBef>
              <a:defRPr/>
            </a:pPr>
            <a:endParaRPr lang="en-US" sz="3288" spc="322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464863705"/>
      </p:ext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80377">
            <a:off x="12420356" y="-10209431"/>
            <a:ext cx="24036383" cy="24664199"/>
          </a:xfrm>
          <a:custGeom>
            <a:avLst/>
            <a:gdLst/>
            <a:ahLst/>
            <a:cxnLst/>
            <a:rect r="r" b="b" t="t" l="l"/>
            <a:pathLst>
              <a:path h="24664199" w="24036383">
                <a:moveTo>
                  <a:pt x="0" y="0"/>
                </a:moveTo>
                <a:lnTo>
                  <a:pt x="24036383" y="0"/>
                </a:lnTo>
                <a:lnTo>
                  <a:pt x="24036383" y="24664199"/>
                </a:lnTo>
                <a:lnTo>
                  <a:pt x="0" y="2466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08554" y="3441556"/>
            <a:ext cx="8097687" cy="324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THANK'S FOR WATCHING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-4254153" y="7476061"/>
            <a:ext cx="11881594" cy="3564478"/>
          </a:xfrm>
          <a:custGeom>
            <a:avLst/>
            <a:gdLst/>
            <a:ahLst/>
            <a:cxnLst/>
            <a:rect r="r" b="b" t="t" l="l"/>
            <a:pathLst>
              <a:path h="3564478" w="11881594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413</ep:Words>
  <ep:PresentationFormat>On-screen Show (4:3)</ep:PresentationFormat>
  <ep:Paragraphs>125</ep:Paragraphs>
  <ep:Slides>20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ep:HeadingPairs>
  <ep:TitlesOfParts>
    <vt:vector size="2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handy</cp:lastModifiedBy>
  <dcterms:modified xsi:type="dcterms:W3CDTF">2025-12-10T01:18:23.006</dcterms:modified>
  <cp:revision>7</cp:revision>
  <dc:title>신경망 기말 발표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