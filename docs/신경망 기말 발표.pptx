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Oswald Bold" charset="1" panose="00000800000000000000"/>
      <p:regular r:id="rId25"/>
    </p:embeddedFont>
    <p:embeddedFont>
      <p:font typeface="DM Sans" charset="1" panose="00000000000000000000"/>
      <p:regular r:id="rId26"/>
    </p:embeddedFont>
    <p:embeddedFont>
      <p:font typeface="Oswald" charset="1" panose="00000500000000000000"/>
      <p:regular r:id="rId27"/>
    </p:embeddedFont>
    <p:embeddedFont>
      <p:font typeface="DM Sans Bold" charset="1" panose="000000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3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7.png" Type="http://schemas.openxmlformats.org/officeDocument/2006/relationships/image"/><Relationship Id="rId6" Target="../media/image48.svg" Type="http://schemas.openxmlformats.org/officeDocument/2006/relationships/image"/><Relationship Id="rId7" Target="../media/image4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7.png" Type="http://schemas.openxmlformats.org/officeDocument/2006/relationships/image"/><Relationship Id="rId6" Target="../media/image4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659121">
            <a:off x="15091031" y="5585714"/>
            <a:ext cx="7629294" cy="7828566"/>
          </a:xfrm>
          <a:custGeom>
            <a:avLst/>
            <a:gdLst/>
            <a:ahLst/>
            <a:cxnLst/>
            <a:rect r="r" b="b" t="t" l="l"/>
            <a:pathLst>
              <a:path h="7828566" w="7629294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258071" y="-4629150"/>
            <a:ext cx="9022634" cy="9258300"/>
          </a:xfrm>
          <a:custGeom>
            <a:avLst/>
            <a:gdLst/>
            <a:ahLst/>
            <a:cxnLst/>
            <a:rect r="r" b="b" t="t" l="l"/>
            <a:pathLst>
              <a:path h="9258300" w="9022634">
                <a:moveTo>
                  <a:pt x="0" y="0"/>
                </a:moveTo>
                <a:lnTo>
                  <a:pt x="9022634" y="0"/>
                </a:lnTo>
                <a:lnTo>
                  <a:pt x="902263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236347" y="3039068"/>
            <a:ext cx="9815307" cy="4208864"/>
            <a:chOff x="0" y="0"/>
            <a:chExt cx="1895495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95495" cy="812800"/>
            </a:xfrm>
            <a:custGeom>
              <a:avLst/>
              <a:gdLst/>
              <a:ahLst/>
              <a:cxnLst/>
              <a:rect r="r" b="b" t="t" l="l"/>
              <a:pathLst>
                <a:path h="812800" w="1895495">
                  <a:moveTo>
                    <a:pt x="0" y="0"/>
                  </a:moveTo>
                  <a:lnTo>
                    <a:pt x="1895495" y="0"/>
                  </a:lnTo>
                  <a:lnTo>
                    <a:pt x="189549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895495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236347" y="4463796"/>
            <a:ext cx="9815307" cy="1226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35"/>
              </a:lnSpc>
            </a:pPr>
            <a:r>
              <a:rPr lang="en-US" b="true" sz="7200" spc="705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신경망 기말 발표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36347" y="7367200"/>
            <a:ext cx="9815307" cy="536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16"/>
              </a:lnSpc>
            </a:pPr>
            <a:r>
              <a:rPr lang="en-US" b="true" sz="3200" spc="313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한동윤, 강우현, 황지인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9045">
            <a:off x="-402841" y="5307804"/>
            <a:ext cx="18804424" cy="8068807"/>
          </a:xfrm>
          <a:custGeom>
            <a:avLst/>
            <a:gdLst/>
            <a:ahLst/>
            <a:cxnLst/>
            <a:rect r="r" b="b" t="t" l="l"/>
            <a:pathLst>
              <a:path h="8068807" w="18804424">
                <a:moveTo>
                  <a:pt x="0" y="0"/>
                </a:moveTo>
                <a:lnTo>
                  <a:pt x="18804424" y="0"/>
                </a:lnTo>
                <a:lnTo>
                  <a:pt x="18804424" y="8068808"/>
                </a:lnTo>
                <a:lnTo>
                  <a:pt x="0" y="80688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1900353" y="3653528"/>
            <a:ext cx="4113179" cy="5112057"/>
            <a:chOff x="0" y="0"/>
            <a:chExt cx="1279723" cy="15905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79723" cy="1590502"/>
            </a:xfrm>
            <a:custGeom>
              <a:avLst/>
              <a:gdLst/>
              <a:ahLst/>
              <a:cxnLst/>
              <a:rect r="r" b="b" t="t" l="l"/>
              <a:pathLst>
                <a:path h="1590502" w="1279723">
                  <a:moveTo>
                    <a:pt x="1882" y="0"/>
                  </a:moveTo>
                  <a:lnTo>
                    <a:pt x="1277841" y="0"/>
                  </a:lnTo>
                  <a:cubicBezTo>
                    <a:pt x="1278880" y="0"/>
                    <a:pt x="1279723" y="843"/>
                    <a:pt x="1279723" y="1882"/>
                  </a:cubicBezTo>
                  <a:lnTo>
                    <a:pt x="1279723" y="1588619"/>
                  </a:lnTo>
                  <a:cubicBezTo>
                    <a:pt x="1279723" y="1589659"/>
                    <a:pt x="1278880" y="1590502"/>
                    <a:pt x="1277841" y="1590502"/>
                  </a:cubicBezTo>
                  <a:lnTo>
                    <a:pt x="1882" y="1590502"/>
                  </a:lnTo>
                  <a:cubicBezTo>
                    <a:pt x="1383" y="1590502"/>
                    <a:pt x="904" y="1590303"/>
                    <a:pt x="551" y="1589950"/>
                  </a:cubicBezTo>
                  <a:cubicBezTo>
                    <a:pt x="198" y="1589597"/>
                    <a:pt x="0" y="1589119"/>
                    <a:pt x="0" y="1588619"/>
                  </a:cubicBezTo>
                  <a:lnTo>
                    <a:pt x="0" y="1882"/>
                  </a:lnTo>
                  <a:cubicBezTo>
                    <a:pt x="0" y="843"/>
                    <a:pt x="843" y="0"/>
                    <a:pt x="1882" y="0"/>
                  </a:cubicBezTo>
                  <a:close/>
                </a:path>
              </a:pathLst>
            </a:custGeom>
            <a:solidFill>
              <a:srgbClr val="1A1A1A"/>
            </a:solidFill>
            <a:ln w="38100" cap="sq">
              <a:solidFill>
                <a:srgbClr val="FFFBFB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279723" cy="1647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095033" y="3653528"/>
            <a:ext cx="4113179" cy="5112057"/>
            <a:chOff x="0" y="0"/>
            <a:chExt cx="1279723" cy="15905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79723" cy="1590502"/>
            </a:xfrm>
            <a:custGeom>
              <a:avLst/>
              <a:gdLst/>
              <a:ahLst/>
              <a:cxnLst/>
              <a:rect r="r" b="b" t="t" l="l"/>
              <a:pathLst>
                <a:path h="1590502" w="1279723">
                  <a:moveTo>
                    <a:pt x="1882" y="0"/>
                  </a:moveTo>
                  <a:lnTo>
                    <a:pt x="1277841" y="0"/>
                  </a:lnTo>
                  <a:cubicBezTo>
                    <a:pt x="1278880" y="0"/>
                    <a:pt x="1279723" y="843"/>
                    <a:pt x="1279723" y="1882"/>
                  </a:cubicBezTo>
                  <a:lnTo>
                    <a:pt x="1279723" y="1588619"/>
                  </a:lnTo>
                  <a:cubicBezTo>
                    <a:pt x="1279723" y="1589659"/>
                    <a:pt x="1278880" y="1590502"/>
                    <a:pt x="1277841" y="1590502"/>
                  </a:cubicBezTo>
                  <a:lnTo>
                    <a:pt x="1882" y="1590502"/>
                  </a:lnTo>
                  <a:cubicBezTo>
                    <a:pt x="1383" y="1590502"/>
                    <a:pt x="904" y="1590303"/>
                    <a:pt x="551" y="1589950"/>
                  </a:cubicBezTo>
                  <a:cubicBezTo>
                    <a:pt x="198" y="1589597"/>
                    <a:pt x="0" y="1589119"/>
                    <a:pt x="0" y="1588619"/>
                  </a:cubicBezTo>
                  <a:lnTo>
                    <a:pt x="0" y="1882"/>
                  </a:lnTo>
                  <a:cubicBezTo>
                    <a:pt x="0" y="843"/>
                    <a:pt x="843" y="0"/>
                    <a:pt x="1882" y="0"/>
                  </a:cubicBezTo>
                  <a:close/>
                </a:path>
              </a:pathLst>
            </a:custGeom>
            <a:solidFill>
              <a:srgbClr val="1A1A1A"/>
            </a:solidFill>
            <a:ln w="38100" cap="sq">
              <a:solidFill>
                <a:srgbClr val="FFFBFB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279723" cy="1647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286529" y="3653528"/>
            <a:ext cx="4113179" cy="5112057"/>
            <a:chOff x="0" y="0"/>
            <a:chExt cx="1279723" cy="15905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79723" cy="1590502"/>
            </a:xfrm>
            <a:custGeom>
              <a:avLst/>
              <a:gdLst/>
              <a:ahLst/>
              <a:cxnLst/>
              <a:rect r="r" b="b" t="t" l="l"/>
              <a:pathLst>
                <a:path h="1590502" w="1279723">
                  <a:moveTo>
                    <a:pt x="1882" y="0"/>
                  </a:moveTo>
                  <a:lnTo>
                    <a:pt x="1277841" y="0"/>
                  </a:lnTo>
                  <a:cubicBezTo>
                    <a:pt x="1278880" y="0"/>
                    <a:pt x="1279723" y="843"/>
                    <a:pt x="1279723" y="1882"/>
                  </a:cubicBezTo>
                  <a:lnTo>
                    <a:pt x="1279723" y="1588619"/>
                  </a:lnTo>
                  <a:cubicBezTo>
                    <a:pt x="1279723" y="1589659"/>
                    <a:pt x="1278880" y="1590502"/>
                    <a:pt x="1277841" y="1590502"/>
                  </a:cubicBezTo>
                  <a:lnTo>
                    <a:pt x="1882" y="1590502"/>
                  </a:lnTo>
                  <a:cubicBezTo>
                    <a:pt x="1383" y="1590502"/>
                    <a:pt x="904" y="1590303"/>
                    <a:pt x="551" y="1589950"/>
                  </a:cubicBezTo>
                  <a:cubicBezTo>
                    <a:pt x="198" y="1589597"/>
                    <a:pt x="0" y="1589119"/>
                    <a:pt x="0" y="1588619"/>
                  </a:cubicBezTo>
                  <a:lnTo>
                    <a:pt x="0" y="1882"/>
                  </a:lnTo>
                  <a:cubicBezTo>
                    <a:pt x="0" y="843"/>
                    <a:pt x="843" y="0"/>
                    <a:pt x="1882" y="0"/>
                  </a:cubicBezTo>
                  <a:close/>
                </a:path>
              </a:pathLst>
            </a:custGeom>
            <a:solidFill>
              <a:srgbClr val="1A1A1A"/>
            </a:solidFill>
            <a:ln w="38100" cap="sq">
              <a:solidFill>
                <a:srgbClr val="FFFBFB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279723" cy="1647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732628" y="4016965"/>
            <a:ext cx="1211702" cy="1322294"/>
          </a:xfrm>
          <a:custGeom>
            <a:avLst/>
            <a:gdLst/>
            <a:ahLst/>
            <a:cxnLst/>
            <a:rect r="r" b="b" t="t" l="l"/>
            <a:pathLst>
              <a:path h="1322294" w="1211702">
                <a:moveTo>
                  <a:pt x="0" y="0"/>
                </a:moveTo>
                <a:lnTo>
                  <a:pt x="1211702" y="0"/>
                </a:lnTo>
                <a:lnTo>
                  <a:pt x="1211702" y="1322294"/>
                </a:lnTo>
                <a:lnTo>
                  <a:pt x="0" y="13222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63658" y="4016965"/>
            <a:ext cx="1160684" cy="1393835"/>
          </a:xfrm>
          <a:custGeom>
            <a:avLst/>
            <a:gdLst/>
            <a:ahLst/>
            <a:cxnLst/>
            <a:rect r="r" b="b" t="t" l="l"/>
            <a:pathLst>
              <a:path h="1393835" w="1160684">
                <a:moveTo>
                  <a:pt x="0" y="0"/>
                </a:moveTo>
                <a:lnTo>
                  <a:pt x="1160684" y="0"/>
                </a:lnTo>
                <a:lnTo>
                  <a:pt x="1160684" y="1393835"/>
                </a:lnTo>
                <a:lnTo>
                  <a:pt x="0" y="13938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272985" y="3986188"/>
            <a:ext cx="1353071" cy="1353071"/>
          </a:xfrm>
          <a:custGeom>
            <a:avLst/>
            <a:gdLst/>
            <a:ahLst/>
            <a:cxnLst/>
            <a:rect r="r" b="b" t="t" l="l"/>
            <a:pathLst>
              <a:path h="1353071" w="1353071">
                <a:moveTo>
                  <a:pt x="0" y="0"/>
                </a:moveTo>
                <a:lnTo>
                  <a:pt x="1353071" y="0"/>
                </a:lnTo>
                <a:lnTo>
                  <a:pt x="1353071" y="1353071"/>
                </a:lnTo>
                <a:lnTo>
                  <a:pt x="0" y="13530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343797" y="1155414"/>
            <a:ext cx="13617940" cy="1594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015"/>
              </a:lnSpc>
              <a:spcBef>
                <a:spcPct val="0"/>
              </a:spcBef>
            </a:pPr>
            <a:r>
              <a:rPr lang="en-US" b="true" sz="9431" spc="924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CONCLUSIONES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80860" y="7040851"/>
            <a:ext cx="3542623" cy="830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1"/>
              </a:lnSpc>
            </a:pPr>
            <a:r>
              <a:rPr lang="en-US" sz="2400" spc="235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초반 코드 제작</a:t>
            </a:r>
          </a:p>
          <a:p>
            <a:pPr algn="ctr">
              <a:lnSpc>
                <a:spcPts val="3311"/>
              </a:lnSpc>
            </a:pPr>
            <a:r>
              <a:rPr lang="en-US" sz="2400" spc="235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PPT 제작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81455" y="7040851"/>
            <a:ext cx="3542623" cy="830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1"/>
              </a:lnSpc>
            </a:pPr>
            <a:r>
              <a:rPr lang="en-US" sz="2400" spc="235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코드 완성</a:t>
            </a:r>
          </a:p>
          <a:p>
            <a:pPr algn="ctr">
              <a:lnSpc>
                <a:spcPts val="3311"/>
              </a:lnSpc>
            </a:pPr>
            <a:r>
              <a:rPr lang="en-US" sz="2400" spc="235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발표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91172" y="7040851"/>
            <a:ext cx="3542623" cy="830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1"/>
              </a:lnSpc>
            </a:pPr>
            <a:r>
              <a:rPr lang="en-US" sz="2400" spc="235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코딩 서포트</a:t>
            </a:r>
          </a:p>
          <a:p>
            <a:pPr algn="ctr">
              <a:lnSpc>
                <a:spcPts val="3311"/>
              </a:lnSpc>
            </a:pPr>
            <a:r>
              <a:rPr lang="en-US" sz="2400" spc="235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발표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864725" y="5586604"/>
            <a:ext cx="2974893" cy="520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8"/>
              </a:lnSpc>
              <a:spcBef>
                <a:spcPct val="0"/>
              </a:spcBef>
            </a:pPr>
            <a:r>
              <a:rPr lang="en-US" sz="3049" spc="298">
                <a:solidFill>
                  <a:srgbClr val="FDFBFB"/>
                </a:solidFill>
                <a:latin typeface="Oswald"/>
                <a:ea typeface="Oswald"/>
                <a:cs typeface="Oswald"/>
                <a:sym typeface="Oswald"/>
              </a:rPr>
              <a:t>강우현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656554" y="5586604"/>
            <a:ext cx="2974893" cy="520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8"/>
              </a:lnSpc>
              <a:spcBef>
                <a:spcPct val="0"/>
              </a:spcBef>
            </a:pPr>
            <a:r>
              <a:rPr lang="en-US" sz="3049" spc="298">
                <a:solidFill>
                  <a:srgbClr val="FDFBFB"/>
                </a:solidFill>
                <a:latin typeface="Oswald"/>
                <a:ea typeface="Oswald"/>
                <a:cs typeface="Oswald"/>
                <a:sym typeface="Oswald"/>
              </a:rPr>
              <a:t>한동윤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75037" y="5586604"/>
            <a:ext cx="2974893" cy="520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8"/>
              </a:lnSpc>
              <a:spcBef>
                <a:spcPct val="0"/>
              </a:spcBef>
            </a:pPr>
            <a:r>
              <a:rPr lang="en-US" sz="3049" spc="298">
                <a:solidFill>
                  <a:srgbClr val="FDFBFB"/>
                </a:solidFill>
                <a:latin typeface="Oswald"/>
                <a:ea typeface="Oswald"/>
                <a:cs typeface="Oswald"/>
                <a:sym typeface="Oswald"/>
              </a:rPr>
              <a:t>황지인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659121">
            <a:off x="-4012602" y="5585714"/>
            <a:ext cx="7629294" cy="7828566"/>
          </a:xfrm>
          <a:custGeom>
            <a:avLst/>
            <a:gdLst/>
            <a:ahLst/>
            <a:cxnLst/>
            <a:rect r="r" b="b" t="t" l="l"/>
            <a:pathLst>
              <a:path h="7828566" w="7629294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980992" y="3556399"/>
            <a:ext cx="1400485" cy="5402009"/>
            <a:chOff x="0" y="0"/>
            <a:chExt cx="368852" cy="14227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8852" cy="1422751"/>
            </a:xfrm>
            <a:custGeom>
              <a:avLst/>
              <a:gdLst/>
              <a:ahLst/>
              <a:cxnLst/>
              <a:rect r="r" b="b" t="t" l="l"/>
              <a:pathLst>
                <a:path h="1422751" w="368852">
                  <a:moveTo>
                    <a:pt x="0" y="0"/>
                  </a:moveTo>
                  <a:lnTo>
                    <a:pt x="368852" y="0"/>
                  </a:lnTo>
                  <a:lnTo>
                    <a:pt x="368852" y="1422751"/>
                  </a:lnTo>
                  <a:lnTo>
                    <a:pt x="0" y="1422751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368852" cy="1441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980992" y="1036994"/>
            <a:ext cx="7416941" cy="1683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74"/>
              </a:lnSpc>
            </a:pPr>
            <a:r>
              <a:rPr lang="en-US" b="true" sz="9981" spc="97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CONTENT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2016048">
            <a:off x="12243487" y="-1005305"/>
            <a:ext cx="10749463" cy="2687366"/>
          </a:xfrm>
          <a:custGeom>
            <a:avLst/>
            <a:gdLst/>
            <a:ahLst/>
            <a:cxnLst/>
            <a:rect r="r" b="b" t="t" l="l"/>
            <a:pathLst>
              <a:path h="2687366" w="10749463">
                <a:moveTo>
                  <a:pt x="0" y="0"/>
                </a:moveTo>
                <a:lnTo>
                  <a:pt x="10749463" y="0"/>
                </a:lnTo>
                <a:lnTo>
                  <a:pt x="10749463" y="2687365"/>
                </a:lnTo>
                <a:lnTo>
                  <a:pt x="0" y="2687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193025" y="3879886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93025" y="4677006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93025" y="5558163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93025" y="6355282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12626" y="7147659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212626" y="7978623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69102" y="3929548"/>
            <a:ext cx="5790503" cy="5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6"/>
              </a:lnSpc>
            </a:pPr>
            <a:r>
              <a:rPr lang="en-US" sz="3200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목적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69102" y="4780321"/>
            <a:ext cx="6076629" cy="5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6"/>
              </a:lnSpc>
            </a:pPr>
            <a:r>
              <a:rPr lang="en-US" sz="3200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프로젝트 구조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69102" y="5585214"/>
            <a:ext cx="5790503" cy="5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16"/>
              </a:lnSpc>
              <a:spcBef>
                <a:spcPct val="0"/>
              </a:spcBef>
            </a:pPr>
            <a:r>
              <a:rPr lang="en-US" sz="3200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방법론 &amp; 설계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69102" y="6455037"/>
            <a:ext cx="6076629" cy="5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16"/>
              </a:lnSpc>
              <a:spcBef>
                <a:spcPct val="0"/>
              </a:spcBef>
            </a:pPr>
            <a:r>
              <a:rPr lang="en-US" sz="3200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학습 과정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69102" y="7324860"/>
            <a:ext cx="6076629" cy="5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16"/>
              </a:lnSpc>
              <a:spcBef>
                <a:spcPct val="0"/>
              </a:spcBef>
            </a:pPr>
            <a:r>
              <a:rPr lang="en-US" sz="3200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분석 결과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69102" y="8089875"/>
            <a:ext cx="5790503" cy="5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16"/>
              </a:lnSpc>
              <a:spcBef>
                <a:spcPct val="0"/>
              </a:spcBef>
            </a:pPr>
            <a:r>
              <a:rPr lang="en-US" sz="3200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결론 및 향후 과제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6262" y="6101928"/>
            <a:ext cx="16193038" cy="1714856"/>
          </a:xfrm>
          <a:custGeom>
            <a:avLst/>
            <a:gdLst/>
            <a:ahLst/>
            <a:cxnLst/>
            <a:rect r="r" b="b" t="t" l="l"/>
            <a:pathLst>
              <a:path h="1714856" w="16193038">
                <a:moveTo>
                  <a:pt x="0" y="0"/>
                </a:moveTo>
                <a:lnTo>
                  <a:pt x="16193038" y="0"/>
                </a:lnTo>
                <a:lnTo>
                  <a:pt x="16193038" y="1714857"/>
                </a:lnTo>
                <a:lnTo>
                  <a:pt x="0" y="17148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495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66262" y="3723397"/>
            <a:ext cx="15955743" cy="3235960"/>
            <a:chOff x="0" y="0"/>
            <a:chExt cx="3682024" cy="746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82024" cy="746746"/>
            </a:xfrm>
            <a:custGeom>
              <a:avLst/>
              <a:gdLst/>
              <a:ahLst/>
              <a:cxnLst/>
              <a:rect r="r" b="b" t="t" l="l"/>
              <a:pathLst>
                <a:path h="746746" w="3682024">
                  <a:moveTo>
                    <a:pt x="0" y="0"/>
                  </a:moveTo>
                  <a:lnTo>
                    <a:pt x="3682024" y="0"/>
                  </a:lnTo>
                  <a:lnTo>
                    <a:pt x="3682024" y="746746"/>
                  </a:lnTo>
                  <a:lnTo>
                    <a:pt x="0" y="746746"/>
                  </a:ln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3682024" cy="7657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578768" y="4575665"/>
            <a:ext cx="1604697" cy="1628382"/>
          </a:xfrm>
          <a:custGeom>
            <a:avLst/>
            <a:gdLst/>
            <a:ahLst/>
            <a:cxnLst/>
            <a:rect r="r" b="b" t="t" l="l"/>
            <a:pathLst>
              <a:path h="1628382" w="1604697">
                <a:moveTo>
                  <a:pt x="0" y="0"/>
                </a:moveTo>
                <a:lnTo>
                  <a:pt x="1604697" y="0"/>
                </a:lnTo>
                <a:lnTo>
                  <a:pt x="1604697" y="1628383"/>
                </a:lnTo>
                <a:lnTo>
                  <a:pt x="0" y="16283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66262" y="876300"/>
            <a:ext cx="6381977" cy="1455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52"/>
              </a:lnSpc>
            </a:pPr>
            <a:r>
              <a:rPr lang="en-US" b="true" sz="8588" spc="841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목적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45224" y="3998392"/>
            <a:ext cx="12676032" cy="6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9882" indent="-354941" lvl="1">
              <a:lnSpc>
                <a:spcPts val="4537"/>
              </a:lnSpc>
              <a:buFont typeface="Arial"/>
              <a:buChar char="•"/>
            </a:pPr>
            <a:r>
              <a:rPr 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학습 속도 개선: SGD, Adam 등 다양한 Optimizer 비교</a:t>
            </a:r>
          </a:p>
          <a:p>
            <a:pPr algn="l">
              <a:lnSpc>
                <a:spcPts val="4537"/>
              </a:lnSpc>
            </a:pPr>
          </a:p>
          <a:p>
            <a:pPr algn="l" marL="709882" indent="-354941" lvl="1">
              <a:lnSpc>
                <a:spcPts val="4537"/>
              </a:lnSpc>
              <a:buFont typeface="Arial"/>
              <a:buChar char="•"/>
            </a:pPr>
            <a:r>
              <a:rPr 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초기값의 중요성: X</a:t>
            </a:r>
            <a:r>
              <a:rPr 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avier vs He Initialization 성능 평가</a:t>
            </a:r>
          </a:p>
          <a:p>
            <a:pPr algn="l">
              <a:lnSpc>
                <a:spcPts val="4537"/>
              </a:lnSpc>
            </a:pPr>
          </a:p>
          <a:p>
            <a:pPr algn="l" marL="709882" indent="-354941" lvl="1">
              <a:lnSpc>
                <a:spcPts val="4537"/>
              </a:lnSpc>
              <a:buFont typeface="Arial"/>
              <a:buChar char="•"/>
            </a:pPr>
            <a:r>
              <a:rPr 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일반화 성능 확보: 배치</a:t>
            </a:r>
            <a:r>
              <a:rPr 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정규화 및 오버피팅 방지 기법 적용</a:t>
            </a:r>
          </a:p>
          <a:p>
            <a:pPr algn="l">
              <a:lnSpc>
                <a:spcPts val="4537"/>
              </a:lnSpc>
            </a:pPr>
          </a:p>
          <a:p>
            <a:pPr algn="l">
              <a:lnSpc>
                <a:spcPts val="4537"/>
              </a:lnSpc>
            </a:pPr>
          </a:p>
          <a:p>
            <a:pPr algn="l">
              <a:lnSpc>
                <a:spcPts val="4537"/>
              </a:lnSpc>
            </a:pPr>
            <a:r>
              <a:rPr 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"동일한</a:t>
            </a:r>
            <a:r>
              <a:rPr 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신경망 구조에서 최적화 전략이 모델의 수렴 속도와 최종 정확도에 미치는 영향을 정량적으로 분석합니다."</a:t>
            </a:r>
          </a:p>
          <a:p>
            <a:pPr algn="l">
              <a:lnSpc>
                <a:spcPts val="4668"/>
              </a:lnSpc>
            </a:pPr>
          </a:p>
          <a:p>
            <a:pPr algn="l" marL="0" indent="0" lvl="0">
              <a:lnSpc>
                <a:spcPts val="4798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2779578" y="7341318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94936" y="7891202"/>
            <a:ext cx="1268693" cy="1211025"/>
          </a:xfrm>
          <a:custGeom>
            <a:avLst/>
            <a:gdLst/>
            <a:ahLst/>
            <a:cxnLst/>
            <a:rect r="r" b="b" t="t" l="l"/>
            <a:pathLst>
              <a:path h="1211025" w="1268693">
                <a:moveTo>
                  <a:pt x="0" y="0"/>
                </a:moveTo>
                <a:lnTo>
                  <a:pt x="1268693" y="0"/>
                </a:lnTo>
                <a:lnTo>
                  <a:pt x="1268693" y="1211025"/>
                </a:lnTo>
                <a:lnTo>
                  <a:pt x="0" y="12110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06315" y="7936159"/>
            <a:ext cx="1104804" cy="1121111"/>
          </a:xfrm>
          <a:custGeom>
            <a:avLst/>
            <a:gdLst/>
            <a:ahLst/>
            <a:cxnLst/>
            <a:rect r="r" b="b" t="t" l="l"/>
            <a:pathLst>
              <a:path h="1121111" w="1104804">
                <a:moveTo>
                  <a:pt x="0" y="0"/>
                </a:moveTo>
                <a:lnTo>
                  <a:pt x="1104805" y="0"/>
                </a:lnTo>
                <a:lnTo>
                  <a:pt x="1104805" y="1121111"/>
                </a:lnTo>
                <a:lnTo>
                  <a:pt x="0" y="11211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67511" y="82111"/>
            <a:ext cx="11552977" cy="1166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87"/>
              </a:lnSpc>
            </a:pPr>
            <a:r>
              <a:rPr lang="en-US" b="true" sz="6947" spc="36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프로젝트 구조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479722" y="-4833750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176364">
            <a:off x="-4105129" y="6530238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01453" y="1028700"/>
            <a:ext cx="4413123" cy="8229600"/>
          </a:xfrm>
          <a:custGeom>
            <a:avLst/>
            <a:gdLst/>
            <a:ahLst/>
            <a:cxnLst/>
            <a:rect r="r" b="b" t="t" l="l"/>
            <a:pathLst>
              <a:path h="8229600" w="4413123">
                <a:moveTo>
                  <a:pt x="0" y="0"/>
                </a:moveTo>
                <a:lnTo>
                  <a:pt x="4413123" y="0"/>
                </a:lnTo>
                <a:lnTo>
                  <a:pt x="441312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414576" y="2627119"/>
            <a:ext cx="12676032" cy="5701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9882" indent="-354941" lvl="1">
              <a:lnSpc>
                <a:spcPts val="4537"/>
              </a:lnSpc>
              <a:buFont typeface="Arial"/>
              <a:buChar char="•"/>
            </a:pPr>
            <a:r>
              <a:rPr 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common/: 신경망 계층, 최적화 함수 등 공통 모듈</a:t>
            </a:r>
          </a:p>
          <a:p>
            <a:pPr algn="l">
              <a:lnSpc>
                <a:spcPts val="4537"/>
              </a:lnSpc>
            </a:pPr>
          </a:p>
          <a:p>
            <a:pPr algn="l" marL="709882" indent="-354941" lvl="1">
              <a:lnSpc>
                <a:spcPts val="4537"/>
              </a:lnSpc>
              <a:buFont typeface="Arial"/>
              <a:buChar char="•"/>
            </a:pPr>
            <a:r>
              <a:rPr 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ata/: Fashion MNIST 데이터</a:t>
            </a:r>
          </a:p>
          <a:p>
            <a:pPr algn="l">
              <a:lnSpc>
                <a:spcPts val="4537"/>
              </a:lnSpc>
            </a:pPr>
          </a:p>
          <a:p>
            <a:pPr algn="l" marL="709882" indent="-354941" lvl="1">
              <a:lnSpc>
                <a:spcPts val="4537"/>
              </a:lnSpc>
              <a:buFont typeface="Arial"/>
              <a:buChar char="•"/>
            </a:pPr>
            <a:r>
              <a:rPr 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utils</a:t>
            </a:r>
            <a:r>
              <a:rPr 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/: MNIST reader</a:t>
            </a:r>
          </a:p>
          <a:p>
            <a:pPr algn="l">
              <a:lnSpc>
                <a:spcPts val="4537"/>
              </a:lnSpc>
            </a:pPr>
          </a:p>
          <a:p>
            <a:pPr algn="l" marL="709882" indent="-354941" lvl="1">
              <a:lnSpc>
                <a:spcPts val="4537"/>
              </a:lnSpc>
              <a:buFont typeface="Arial"/>
              <a:buChar char="•"/>
            </a:pPr>
            <a:r>
              <a:rPr 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dropout_compare_fashion : 드롭아웃 구현</a:t>
            </a:r>
          </a:p>
          <a:p>
            <a:pPr algn="l">
              <a:lnSpc>
                <a:spcPts val="4537"/>
              </a:lnSpc>
            </a:pPr>
          </a:p>
          <a:p>
            <a:pPr algn="l" marL="709882" indent="-354941" lvl="1">
              <a:lnSpc>
                <a:spcPts val="4537"/>
              </a:lnSpc>
              <a:buFont typeface="Arial"/>
              <a:buChar char="•"/>
            </a:pPr>
            <a:r>
              <a:rPr 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train_fashion_mnist_team7 : pkl로 만들어짐</a:t>
            </a:r>
          </a:p>
          <a:p>
            <a:pPr algn="l" marL="0" indent="0" lvl="0">
              <a:lnSpc>
                <a:spcPts val="479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3086100"/>
            <a:chOff x="0" y="0"/>
            <a:chExt cx="4816593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812800"/>
            </a:xfrm>
            <a:custGeom>
              <a:avLst/>
              <a:gdLst/>
              <a:ahLst/>
              <a:cxnLst/>
              <a:rect r="r" b="b" t="t" l="l"/>
              <a:pathLst>
                <a:path h="8128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816593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451022" y="-4729397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851369" y="-3442596"/>
            <a:ext cx="6709932" cy="6885191"/>
          </a:xfrm>
          <a:custGeom>
            <a:avLst/>
            <a:gdLst/>
            <a:ahLst/>
            <a:cxnLst/>
            <a:rect r="r" b="b" t="t" l="l"/>
            <a:pathLst>
              <a:path h="6885191" w="6709932">
                <a:moveTo>
                  <a:pt x="0" y="0"/>
                </a:moveTo>
                <a:lnTo>
                  <a:pt x="6709932" y="0"/>
                </a:lnTo>
                <a:lnTo>
                  <a:pt x="6709932" y="6885192"/>
                </a:lnTo>
                <a:lnTo>
                  <a:pt x="0" y="68851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028700" y="4801028"/>
          <a:ext cx="16230600" cy="4614520"/>
        </p:xfrm>
        <a:graphic>
          <a:graphicData uri="http://schemas.openxmlformats.org/drawingml/2006/table">
            <a:tbl>
              <a:tblPr/>
              <a:tblGrid>
                <a:gridCol w="5483504"/>
                <a:gridCol w="10747096"/>
              </a:tblGrid>
              <a:tr h="9220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계층 (Layeer)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F2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b="true" sz="2599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설정 (Configuration)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F20"/>
                    </a:solidFill>
                  </a:tcPr>
                </a:tc>
              </a:tr>
              <a:tr h="9220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Input Layer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784 Nodes (28 x 28 Image Flattend)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20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Hidden Layers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4~5 Layers, 각각 100 Nodes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20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Activation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ReLU (Rectified Linear Unit)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64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Output Layer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 Nodes (Softmax Classification)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3690980" y="1232286"/>
            <a:ext cx="10906040" cy="1349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82"/>
              </a:lnSpc>
            </a:pPr>
            <a:r>
              <a:rPr lang="en-US" b="true" sz="8030" spc="786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방법론 &amp; 설계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687909"/>
            <a:ext cx="12676032" cy="115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7"/>
              </a:lnSpc>
            </a:pPr>
            <a:r>
              <a:rPr lang="en-US" sz="3288" spc="32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Multi-Layer Perceptron (MLP)</a:t>
            </a:r>
          </a:p>
          <a:p>
            <a:pPr algn="l" marL="0" indent="0" lvl="0">
              <a:lnSpc>
                <a:spcPts val="479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9045">
            <a:off x="-402841" y="5307804"/>
            <a:ext cx="18804424" cy="8068807"/>
          </a:xfrm>
          <a:custGeom>
            <a:avLst/>
            <a:gdLst/>
            <a:ahLst/>
            <a:cxnLst/>
            <a:rect r="r" b="b" t="t" l="l"/>
            <a:pathLst>
              <a:path h="8068807" w="18804424">
                <a:moveTo>
                  <a:pt x="0" y="0"/>
                </a:moveTo>
                <a:lnTo>
                  <a:pt x="18804424" y="0"/>
                </a:lnTo>
                <a:lnTo>
                  <a:pt x="18804424" y="8068808"/>
                </a:lnTo>
                <a:lnTo>
                  <a:pt x="0" y="80688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1900353" y="3653528"/>
            <a:ext cx="4113179" cy="5112057"/>
            <a:chOff x="0" y="0"/>
            <a:chExt cx="1279723" cy="15905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79723" cy="1590502"/>
            </a:xfrm>
            <a:custGeom>
              <a:avLst/>
              <a:gdLst/>
              <a:ahLst/>
              <a:cxnLst/>
              <a:rect r="r" b="b" t="t" l="l"/>
              <a:pathLst>
                <a:path h="1590502" w="1279723">
                  <a:moveTo>
                    <a:pt x="1882" y="0"/>
                  </a:moveTo>
                  <a:lnTo>
                    <a:pt x="1277841" y="0"/>
                  </a:lnTo>
                  <a:cubicBezTo>
                    <a:pt x="1278880" y="0"/>
                    <a:pt x="1279723" y="843"/>
                    <a:pt x="1279723" y="1882"/>
                  </a:cubicBezTo>
                  <a:lnTo>
                    <a:pt x="1279723" y="1588619"/>
                  </a:lnTo>
                  <a:cubicBezTo>
                    <a:pt x="1279723" y="1589659"/>
                    <a:pt x="1278880" y="1590502"/>
                    <a:pt x="1277841" y="1590502"/>
                  </a:cubicBezTo>
                  <a:lnTo>
                    <a:pt x="1882" y="1590502"/>
                  </a:lnTo>
                  <a:cubicBezTo>
                    <a:pt x="1383" y="1590502"/>
                    <a:pt x="904" y="1590303"/>
                    <a:pt x="551" y="1589950"/>
                  </a:cubicBezTo>
                  <a:cubicBezTo>
                    <a:pt x="198" y="1589597"/>
                    <a:pt x="0" y="1589119"/>
                    <a:pt x="0" y="1588619"/>
                  </a:cubicBezTo>
                  <a:lnTo>
                    <a:pt x="0" y="1882"/>
                  </a:lnTo>
                  <a:cubicBezTo>
                    <a:pt x="0" y="843"/>
                    <a:pt x="843" y="0"/>
                    <a:pt x="1882" y="0"/>
                  </a:cubicBezTo>
                  <a:close/>
                </a:path>
              </a:pathLst>
            </a:custGeom>
            <a:solidFill>
              <a:srgbClr val="1A1A1A"/>
            </a:solidFill>
            <a:ln w="38100" cap="sq">
              <a:solidFill>
                <a:srgbClr val="FFFBFB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279723" cy="1647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095033" y="3653528"/>
            <a:ext cx="4113179" cy="5112057"/>
            <a:chOff x="0" y="0"/>
            <a:chExt cx="1279723" cy="15905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79723" cy="1590502"/>
            </a:xfrm>
            <a:custGeom>
              <a:avLst/>
              <a:gdLst/>
              <a:ahLst/>
              <a:cxnLst/>
              <a:rect r="r" b="b" t="t" l="l"/>
              <a:pathLst>
                <a:path h="1590502" w="1279723">
                  <a:moveTo>
                    <a:pt x="1882" y="0"/>
                  </a:moveTo>
                  <a:lnTo>
                    <a:pt x="1277841" y="0"/>
                  </a:lnTo>
                  <a:cubicBezTo>
                    <a:pt x="1278880" y="0"/>
                    <a:pt x="1279723" y="843"/>
                    <a:pt x="1279723" y="1882"/>
                  </a:cubicBezTo>
                  <a:lnTo>
                    <a:pt x="1279723" y="1588619"/>
                  </a:lnTo>
                  <a:cubicBezTo>
                    <a:pt x="1279723" y="1589659"/>
                    <a:pt x="1278880" y="1590502"/>
                    <a:pt x="1277841" y="1590502"/>
                  </a:cubicBezTo>
                  <a:lnTo>
                    <a:pt x="1882" y="1590502"/>
                  </a:lnTo>
                  <a:cubicBezTo>
                    <a:pt x="1383" y="1590502"/>
                    <a:pt x="904" y="1590303"/>
                    <a:pt x="551" y="1589950"/>
                  </a:cubicBezTo>
                  <a:cubicBezTo>
                    <a:pt x="198" y="1589597"/>
                    <a:pt x="0" y="1589119"/>
                    <a:pt x="0" y="1588619"/>
                  </a:cubicBezTo>
                  <a:lnTo>
                    <a:pt x="0" y="1882"/>
                  </a:lnTo>
                  <a:cubicBezTo>
                    <a:pt x="0" y="843"/>
                    <a:pt x="843" y="0"/>
                    <a:pt x="1882" y="0"/>
                  </a:cubicBezTo>
                  <a:close/>
                </a:path>
              </a:pathLst>
            </a:custGeom>
            <a:solidFill>
              <a:srgbClr val="1A1A1A"/>
            </a:solidFill>
            <a:ln w="38100" cap="sq">
              <a:solidFill>
                <a:srgbClr val="FFFBFB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279723" cy="1647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289311" y="3653528"/>
            <a:ext cx="4113179" cy="5112057"/>
            <a:chOff x="0" y="0"/>
            <a:chExt cx="1279723" cy="15905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79723" cy="1590502"/>
            </a:xfrm>
            <a:custGeom>
              <a:avLst/>
              <a:gdLst/>
              <a:ahLst/>
              <a:cxnLst/>
              <a:rect r="r" b="b" t="t" l="l"/>
              <a:pathLst>
                <a:path h="1590502" w="1279723">
                  <a:moveTo>
                    <a:pt x="1882" y="0"/>
                  </a:moveTo>
                  <a:lnTo>
                    <a:pt x="1277841" y="0"/>
                  </a:lnTo>
                  <a:cubicBezTo>
                    <a:pt x="1278880" y="0"/>
                    <a:pt x="1279723" y="843"/>
                    <a:pt x="1279723" y="1882"/>
                  </a:cubicBezTo>
                  <a:lnTo>
                    <a:pt x="1279723" y="1588619"/>
                  </a:lnTo>
                  <a:cubicBezTo>
                    <a:pt x="1279723" y="1589659"/>
                    <a:pt x="1278880" y="1590502"/>
                    <a:pt x="1277841" y="1590502"/>
                  </a:cubicBezTo>
                  <a:lnTo>
                    <a:pt x="1882" y="1590502"/>
                  </a:lnTo>
                  <a:cubicBezTo>
                    <a:pt x="1383" y="1590502"/>
                    <a:pt x="904" y="1590303"/>
                    <a:pt x="551" y="1589950"/>
                  </a:cubicBezTo>
                  <a:cubicBezTo>
                    <a:pt x="198" y="1589597"/>
                    <a:pt x="0" y="1589119"/>
                    <a:pt x="0" y="1588619"/>
                  </a:cubicBezTo>
                  <a:lnTo>
                    <a:pt x="0" y="1882"/>
                  </a:lnTo>
                  <a:cubicBezTo>
                    <a:pt x="0" y="843"/>
                    <a:pt x="843" y="0"/>
                    <a:pt x="1882" y="0"/>
                  </a:cubicBezTo>
                  <a:close/>
                </a:path>
              </a:pathLst>
            </a:custGeom>
            <a:solidFill>
              <a:srgbClr val="1A1A1A"/>
            </a:solidFill>
            <a:ln w="38100" cap="sq">
              <a:solidFill>
                <a:srgbClr val="FFFBFB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279723" cy="1647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636536" y="3913118"/>
            <a:ext cx="1418728" cy="1431744"/>
          </a:xfrm>
          <a:custGeom>
            <a:avLst/>
            <a:gdLst/>
            <a:ahLst/>
            <a:cxnLst/>
            <a:rect r="r" b="b" t="t" l="l"/>
            <a:pathLst>
              <a:path h="1431744" w="1418728">
                <a:moveTo>
                  <a:pt x="0" y="0"/>
                </a:moveTo>
                <a:lnTo>
                  <a:pt x="1418728" y="0"/>
                </a:lnTo>
                <a:lnTo>
                  <a:pt x="1418728" y="1431744"/>
                </a:lnTo>
                <a:lnTo>
                  <a:pt x="0" y="14317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483540" y="3858374"/>
            <a:ext cx="1320921" cy="1541232"/>
          </a:xfrm>
          <a:custGeom>
            <a:avLst/>
            <a:gdLst/>
            <a:ahLst/>
            <a:cxnLst/>
            <a:rect r="r" b="b" t="t" l="l"/>
            <a:pathLst>
              <a:path h="1541232" w="1320921">
                <a:moveTo>
                  <a:pt x="0" y="0"/>
                </a:moveTo>
                <a:lnTo>
                  <a:pt x="1320920" y="0"/>
                </a:lnTo>
                <a:lnTo>
                  <a:pt x="1320920" y="1541232"/>
                </a:lnTo>
                <a:lnTo>
                  <a:pt x="0" y="15412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201323" y="3913118"/>
            <a:ext cx="1496396" cy="1541232"/>
          </a:xfrm>
          <a:custGeom>
            <a:avLst/>
            <a:gdLst/>
            <a:ahLst/>
            <a:cxnLst/>
            <a:rect r="r" b="b" t="t" l="l"/>
            <a:pathLst>
              <a:path h="1541232" w="1496396">
                <a:moveTo>
                  <a:pt x="0" y="0"/>
                </a:moveTo>
                <a:lnTo>
                  <a:pt x="1496396" y="0"/>
                </a:lnTo>
                <a:lnTo>
                  <a:pt x="1496396" y="1541233"/>
                </a:lnTo>
                <a:lnTo>
                  <a:pt x="0" y="15412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343797" y="1155414"/>
            <a:ext cx="13617940" cy="1594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015"/>
              </a:lnSpc>
              <a:spcBef>
                <a:spcPct val="0"/>
              </a:spcBef>
            </a:pPr>
            <a:r>
              <a:rPr lang="en-US" b="true" sz="9431" spc="924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CONCLUSIONES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69450" y="7141876"/>
            <a:ext cx="3542623" cy="1160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SGD: 기본 확률적 경사 하강법</a:t>
            </a:r>
          </a:p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Momentum: 관성 적용</a:t>
            </a:r>
          </a:p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AdaGrad: 학습률 적응형 조정</a:t>
            </a:r>
          </a:p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Adam: 모멘텀 + 적응형 학습률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81455" y="7141876"/>
            <a:ext cx="3542623" cy="1160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Std=0.01: 표준편차 0.01 (가우시안)</a:t>
            </a:r>
          </a:p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Xavier: Sigmoid/Tanh에 최적</a:t>
            </a:r>
          </a:p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He: ReLU에 최적화된 초기값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78209" y="7141876"/>
            <a:ext cx="3542623" cy="1160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Batch Normalization: 학습 안정화</a:t>
            </a:r>
          </a:p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Dropout: 뉴런 무작위 비활성</a:t>
            </a:r>
          </a:p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Weight Decay: L2 규제 적용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853315" y="5586604"/>
            <a:ext cx="2974893" cy="520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8"/>
              </a:lnSpc>
              <a:spcBef>
                <a:spcPct val="0"/>
              </a:spcBef>
            </a:pPr>
            <a:r>
              <a:rPr lang="en-US" sz="3049" spc="298">
                <a:solidFill>
                  <a:srgbClr val="FDFBFB"/>
                </a:solidFill>
                <a:latin typeface="Oswald"/>
                <a:ea typeface="Oswald"/>
                <a:cs typeface="Oswald"/>
                <a:sym typeface="Oswald"/>
              </a:rPr>
              <a:t>OPTIMIZERS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656554" y="5586604"/>
            <a:ext cx="2974893" cy="1054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8"/>
              </a:lnSpc>
              <a:spcBef>
                <a:spcPct val="0"/>
              </a:spcBef>
            </a:pPr>
            <a:r>
              <a:rPr lang="en-US" sz="3049" spc="298">
                <a:solidFill>
                  <a:srgbClr val="FDFBFB"/>
                </a:solidFill>
                <a:latin typeface="Oswald"/>
                <a:ea typeface="Oswald"/>
                <a:cs typeface="Oswald"/>
                <a:sym typeface="Oswald"/>
              </a:rPr>
              <a:t>WEIGHT INITIALIZATION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62074" y="5818444"/>
            <a:ext cx="2974893" cy="1054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8"/>
              </a:lnSpc>
            </a:pPr>
            <a:r>
              <a:rPr lang="en-US" sz="3049" spc="298">
                <a:solidFill>
                  <a:srgbClr val="FDFBFB"/>
                </a:solidFill>
                <a:latin typeface="Oswald"/>
                <a:ea typeface="Oswald"/>
                <a:cs typeface="Oswald"/>
                <a:sym typeface="Oswald"/>
              </a:rPr>
              <a:t>REGULARIZATION</a:t>
            </a:r>
          </a:p>
          <a:p>
            <a:pPr algn="ctr" marL="0" indent="0" lvl="0">
              <a:lnSpc>
                <a:spcPts val="420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169367" y="-10264537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40942" y="91717"/>
            <a:ext cx="6806117" cy="1702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48"/>
              </a:lnSpc>
            </a:pPr>
            <a:r>
              <a:rPr lang="en-US" b="true" sz="10107" spc="99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학습 과정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447294" y="-3843198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36475" y="3874342"/>
            <a:ext cx="12676032" cy="4003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3999" spc="3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Hyperparameters</a:t>
            </a:r>
          </a:p>
          <a:p>
            <a:pPr algn="l">
              <a:lnSpc>
                <a:spcPts val="4416"/>
              </a:lnSpc>
            </a:pPr>
          </a:p>
          <a:p>
            <a:pPr algn="l" marL="690881" indent="-345440" lvl="1">
              <a:lnSpc>
                <a:spcPts val="4416"/>
              </a:lnSpc>
              <a:buFont typeface="Arial"/>
              <a:buChar char="•"/>
            </a:pPr>
            <a:r>
              <a:rPr lang="en-US" sz="3200" spc="31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ataset: Fashion MNIST (60,000 Train / 10,000 Test)</a:t>
            </a:r>
          </a:p>
          <a:p>
            <a:pPr algn="l" marL="690881" indent="-345440" lvl="1">
              <a:lnSpc>
                <a:spcPts val="4416"/>
              </a:lnSpc>
              <a:buFont typeface="Arial"/>
              <a:buChar char="•"/>
            </a:pPr>
            <a:r>
              <a:rPr lang="en-US" sz="3200" spc="31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Batch Size: 128</a:t>
            </a:r>
          </a:p>
          <a:p>
            <a:pPr algn="l" marL="690881" indent="-345440" lvl="1">
              <a:lnSpc>
                <a:spcPts val="4416"/>
              </a:lnSpc>
              <a:buFont typeface="Arial"/>
              <a:buChar char="•"/>
            </a:pPr>
            <a:r>
              <a:rPr lang="en-US" sz="3200" spc="31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Iterations: 2,000 (약 20 Epochs)</a:t>
            </a:r>
          </a:p>
          <a:p>
            <a:pPr algn="l" marL="690881" indent="-345440" lvl="1">
              <a:lnSpc>
                <a:spcPts val="4416"/>
              </a:lnSpc>
              <a:buFont typeface="Arial"/>
              <a:buChar char="•"/>
            </a:pPr>
            <a:r>
              <a:rPr lang="en-US" sz="3200" spc="31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Learning Rate: 0.01 (Optimizer별 미세 조정)</a:t>
            </a:r>
          </a:p>
          <a:p>
            <a:pPr algn="l" marL="0" indent="0" lvl="0">
              <a:lnSpc>
                <a:spcPts val="441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760017" y="-12044846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3"/>
                </a:lnTo>
                <a:lnTo>
                  <a:pt x="0" y="162556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85607" y="-3917030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3"/>
                </a:lnTo>
                <a:lnTo>
                  <a:pt x="0" y="162556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343437" y="5653664"/>
            <a:ext cx="12691034" cy="0"/>
          </a:xfrm>
          <a:prstGeom prst="line">
            <a:avLst/>
          </a:prstGeom>
          <a:ln cap="flat" w="28575">
            <a:solidFill>
              <a:srgbClr val="FDFBF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2983811" y="5444323"/>
            <a:ext cx="420894" cy="42089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BFB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762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497790" y="3851370"/>
            <a:ext cx="1392935" cy="139293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BF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7623"/>
                </a:lnSpc>
                <a:spcBef>
                  <a:spcPct val="0"/>
                </a:spcBef>
              </a:pPr>
              <a:r>
                <a:rPr lang="en-US" b="true" sz="5524" spc="541" strike="noStrike" u="none">
                  <a:solidFill>
                    <a:srgbClr val="100F0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427856" y="3851370"/>
            <a:ext cx="1392935" cy="139293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BFB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7623"/>
                </a:lnSpc>
                <a:spcBef>
                  <a:spcPct val="0"/>
                </a:spcBef>
              </a:pPr>
              <a:r>
                <a:rPr lang="en-US" b="true" sz="5524" spc="541" strike="noStrike" u="none">
                  <a:solidFill>
                    <a:srgbClr val="100F0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356928" y="3851370"/>
            <a:ext cx="1392935" cy="139293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BF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7623"/>
                </a:lnSpc>
                <a:spcBef>
                  <a:spcPct val="0"/>
                </a:spcBef>
              </a:pPr>
              <a:r>
                <a:rPr lang="en-US" b="true" sz="5524" spc="541">
                  <a:solidFill>
                    <a:srgbClr val="100F0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286000" y="3851370"/>
            <a:ext cx="1392935" cy="139293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BFB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7623"/>
                </a:lnSpc>
                <a:spcBef>
                  <a:spcPct val="0"/>
                </a:spcBef>
              </a:pPr>
              <a:r>
                <a:rPr lang="en-US" b="true" sz="5524" spc="541" strike="noStrike" u="none">
                  <a:solidFill>
                    <a:srgbClr val="100F0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4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848405" y="6598520"/>
            <a:ext cx="2691704" cy="1021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000" spc="196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Fashion MNIST 데이터 로드 및 정규화 (0~1.0)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38147" y="6017495"/>
            <a:ext cx="2912221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b="true" sz="2499" spc="244">
                <a:solidFill>
                  <a:srgbClr val="F2F4F5"/>
                </a:solidFill>
                <a:latin typeface="DM Sans Bold"/>
                <a:ea typeface="DM Sans Bold"/>
                <a:cs typeface="DM Sans Bold"/>
                <a:sym typeface="DM Sans Bold"/>
              </a:rPr>
              <a:t>DATA LOAD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913877" y="5444323"/>
            <a:ext cx="420894" cy="420894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BFB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762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845839" y="5444323"/>
            <a:ext cx="420894" cy="420894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BFB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762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777801" y="5444323"/>
            <a:ext cx="420894" cy="420894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BFB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7623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4747695" y="6598520"/>
            <a:ext cx="2691704" cy="1021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000" spc="196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Affine -&gt; ReLU -&gt; ... -&gt; Softmax 계층 통과 및 Loss 계산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955459" y="6017495"/>
            <a:ext cx="2276177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b="true" sz="2499" spc="244">
                <a:solidFill>
                  <a:srgbClr val="F2F4F5"/>
                </a:solidFill>
                <a:latin typeface="DM Sans Bold"/>
                <a:ea typeface="DM Sans Bold"/>
                <a:cs typeface="DM Sans Bold"/>
                <a:sym typeface="DM Sans Bold"/>
              </a:rPr>
              <a:t>FORWARD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648950" y="6598520"/>
            <a:ext cx="2691704" cy="1363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000" spc="196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오차역전파법(Backprop)을 통한 각 계층의 기울기(Gradient) 산출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887421" y="6017495"/>
            <a:ext cx="2276177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b="true" sz="2499" spc="244">
                <a:solidFill>
                  <a:srgbClr val="F2F4F5"/>
                </a:solidFill>
                <a:latin typeface="DM Sans Bold"/>
                <a:ea typeface="DM Sans Bold"/>
                <a:cs typeface="DM Sans Bold"/>
                <a:sym typeface="DM Sans Bold"/>
              </a:rPr>
              <a:t>BACKWARD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642396" y="6598520"/>
            <a:ext cx="2691704" cy="1021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000" spc="196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Optimizer 규칙에 따라 가중치(Weights) 갱신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819383" y="6018681"/>
            <a:ext cx="2276177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b="true" sz="2499" spc="244">
                <a:solidFill>
                  <a:srgbClr val="F2F4F5"/>
                </a:solidFill>
                <a:latin typeface="DM Sans Bold"/>
                <a:ea typeface="DM Sans Bold"/>
                <a:cs typeface="DM Sans Bold"/>
                <a:sym typeface="DM Sans Bold"/>
              </a:rPr>
              <a:t>UPDATE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863674" y="91717"/>
            <a:ext cx="6806117" cy="1702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48"/>
              </a:lnSpc>
            </a:pPr>
            <a:r>
              <a:rPr lang="en-US" b="true" sz="10107" spc="99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학습 과정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169367" y="-10264537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47294" y="-3843198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99702" y="3748509"/>
            <a:ext cx="8264686" cy="5509791"/>
          </a:xfrm>
          <a:custGeom>
            <a:avLst/>
            <a:gdLst/>
            <a:ahLst/>
            <a:cxnLst/>
            <a:rect r="r" b="b" t="t" l="l"/>
            <a:pathLst>
              <a:path h="5509791" w="8264686">
                <a:moveTo>
                  <a:pt x="0" y="0"/>
                </a:moveTo>
                <a:lnTo>
                  <a:pt x="8264686" y="0"/>
                </a:lnTo>
                <a:lnTo>
                  <a:pt x="8264686" y="5509791"/>
                </a:lnTo>
                <a:lnTo>
                  <a:pt x="0" y="55097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040326" y="3749589"/>
            <a:ext cx="8813937" cy="5508711"/>
          </a:xfrm>
          <a:custGeom>
            <a:avLst/>
            <a:gdLst/>
            <a:ahLst/>
            <a:cxnLst/>
            <a:rect r="r" b="b" t="t" l="l"/>
            <a:pathLst>
              <a:path h="5508711" w="8813937">
                <a:moveTo>
                  <a:pt x="0" y="0"/>
                </a:moveTo>
                <a:lnTo>
                  <a:pt x="8813937" y="0"/>
                </a:lnTo>
                <a:lnTo>
                  <a:pt x="8813937" y="5508711"/>
                </a:lnTo>
                <a:lnTo>
                  <a:pt x="0" y="55087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307144" y="91717"/>
            <a:ext cx="7673712" cy="1702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48"/>
              </a:lnSpc>
            </a:pPr>
            <a:r>
              <a:rPr lang="en-US" b="true" sz="10107" spc="99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분석 결과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56229" y="2393229"/>
            <a:ext cx="5375543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9"/>
              </a:lnSpc>
              <a:spcBef>
                <a:spcPct val="0"/>
              </a:spcBef>
            </a:pPr>
            <a:r>
              <a:rPr lang="en-US" sz="3999" spc="3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Optimizer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169367" y="-10264537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47294" y="-3843198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22533" y="3748509"/>
            <a:ext cx="8264686" cy="5509791"/>
          </a:xfrm>
          <a:custGeom>
            <a:avLst/>
            <a:gdLst/>
            <a:ahLst/>
            <a:cxnLst/>
            <a:rect r="r" b="b" t="t" l="l"/>
            <a:pathLst>
              <a:path h="5509791" w="8264686">
                <a:moveTo>
                  <a:pt x="0" y="0"/>
                </a:moveTo>
                <a:lnTo>
                  <a:pt x="8264686" y="0"/>
                </a:lnTo>
                <a:lnTo>
                  <a:pt x="8264686" y="5509791"/>
                </a:lnTo>
                <a:lnTo>
                  <a:pt x="0" y="55097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3748509"/>
            <a:ext cx="8815665" cy="5509791"/>
          </a:xfrm>
          <a:custGeom>
            <a:avLst/>
            <a:gdLst/>
            <a:ahLst/>
            <a:cxnLst/>
            <a:rect r="r" b="b" t="t" l="l"/>
            <a:pathLst>
              <a:path h="5509791" w="8815665">
                <a:moveTo>
                  <a:pt x="0" y="0"/>
                </a:moveTo>
                <a:lnTo>
                  <a:pt x="8815665" y="0"/>
                </a:lnTo>
                <a:lnTo>
                  <a:pt x="8815665" y="5509791"/>
                </a:lnTo>
                <a:lnTo>
                  <a:pt x="0" y="55097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307144" y="91717"/>
            <a:ext cx="7673712" cy="1702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48"/>
              </a:lnSpc>
            </a:pPr>
            <a:r>
              <a:rPr lang="en-US" b="true" sz="10107" spc="99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분석 결과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56229" y="2393229"/>
            <a:ext cx="5375543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9"/>
              </a:lnSpc>
              <a:spcBef>
                <a:spcPct val="0"/>
              </a:spcBef>
            </a:pPr>
            <a:r>
              <a:rPr lang="en-US" sz="3999" spc="3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weight-decay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169367" y="-10264537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47294" y="-3843198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3748509"/>
            <a:ext cx="8815665" cy="5509791"/>
          </a:xfrm>
          <a:custGeom>
            <a:avLst/>
            <a:gdLst/>
            <a:ahLst/>
            <a:cxnLst/>
            <a:rect r="r" b="b" t="t" l="l"/>
            <a:pathLst>
              <a:path h="5509791" w="8815665">
                <a:moveTo>
                  <a:pt x="0" y="0"/>
                </a:moveTo>
                <a:lnTo>
                  <a:pt x="8815665" y="0"/>
                </a:lnTo>
                <a:lnTo>
                  <a:pt x="8815665" y="5509791"/>
                </a:lnTo>
                <a:lnTo>
                  <a:pt x="0" y="55097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67965" y="3748509"/>
            <a:ext cx="8264686" cy="5509791"/>
          </a:xfrm>
          <a:custGeom>
            <a:avLst/>
            <a:gdLst/>
            <a:ahLst/>
            <a:cxnLst/>
            <a:rect r="r" b="b" t="t" l="l"/>
            <a:pathLst>
              <a:path h="5509791" w="8264686">
                <a:moveTo>
                  <a:pt x="0" y="0"/>
                </a:moveTo>
                <a:lnTo>
                  <a:pt x="8264686" y="0"/>
                </a:lnTo>
                <a:lnTo>
                  <a:pt x="8264686" y="5509791"/>
                </a:lnTo>
                <a:lnTo>
                  <a:pt x="0" y="55097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307144" y="91717"/>
            <a:ext cx="7673712" cy="1702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48"/>
              </a:lnSpc>
            </a:pPr>
            <a:r>
              <a:rPr lang="en-US" b="true" sz="10107" spc="99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분석 결과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56229" y="2393229"/>
            <a:ext cx="5375543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9"/>
              </a:lnSpc>
              <a:spcBef>
                <a:spcPct val="0"/>
              </a:spcBef>
            </a:pPr>
            <a:r>
              <a:rPr lang="en-US" sz="3999" spc="3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depth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169367" y="-10264537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47294" y="-3843198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1499" y="3929966"/>
            <a:ext cx="9010815" cy="5149037"/>
          </a:xfrm>
          <a:custGeom>
            <a:avLst/>
            <a:gdLst/>
            <a:ahLst/>
            <a:cxnLst/>
            <a:rect r="r" b="b" t="t" l="l"/>
            <a:pathLst>
              <a:path h="5149037" w="9010815">
                <a:moveTo>
                  <a:pt x="0" y="0"/>
                </a:moveTo>
                <a:lnTo>
                  <a:pt x="9010816" y="0"/>
                </a:lnTo>
                <a:lnTo>
                  <a:pt x="9010816" y="5149037"/>
                </a:lnTo>
                <a:lnTo>
                  <a:pt x="0" y="51490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752678" y="3929966"/>
            <a:ext cx="8238460" cy="5149037"/>
          </a:xfrm>
          <a:custGeom>
            <a:avLst/>
            <a:gdLst/>
            <a:ahLst/>
            <a:cxnLst/>
            <a:rect r="r" b="b" t="t" l="l"/>
            <a:pathLst>
              <a:path h="5149037" w="8238460">
                <a:moveTo>
                  <a:pt x="0" y="0"/>
                </a:moveTo>
                <a:lnTo>
                  <a:pt x="8238460" y="0"/>
                </a:lnTo>
                <a:lnTo>
                  <a:pt x="8238460" y="5149037"/>
                </a:lnTo>
                <a:lnTo>
                  <a:pt x="0" y="51490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307144" y="91717"/>
            <a:ext cx="7673712" cy="1702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48"/>
              </a:lnSpc>
            </a:pPr>
            <a:r>
              <a:rPr lang="en-US" b="true" sz="10107" spc="99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분석 결과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56229" y="2393229"/>
            <a:ext cx="5375543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9"/>
              </a:lnSpc>
              <a:spcBef>
                <a:spcPct val="0"/>
              </a:spcBef>
            </a:pPr>
            <a:r>
              <a:rPr lang="en-US" sz="3999" spc="3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activation_init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169367" y="-10264537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47294" y="-3843198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543514" y="3507692"/>
            <a:ext cx="9200973" cy="5750608"/>
          </a:xfrm>
          <a:custGeom>
            <a:avLst/>
            <a:gdLst/>
            <a:ahLst/>
            <a:cxnLst/>
            <a:rect r="r" b="b" t="t" l="l"/>
            <a:pathLst>
              <a:path h="5750608" w="9200973">
                <a:moveTo>
                  <a:pt x="0" y="0"/>
                </a:moveTo>
                <a:lnTo>
                  <a:pt x="9200972" y="0"/>
                </a:lnTo>
                <a:lnTo>
                  <a:pt x="9200972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307144" y="91717"/>
            <a:ext cx="7673712" cy="1702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48"/>
              </a:lnSpc>
            </a:pPr>
            <a:r>
              <a:rPr lang="en-US" b="true" sz="10107" spc="99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분석 결과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24247" y="2272820"/>
            <a:ext cx="8923048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9"/>
              </a:lnSpc>
              <a:spcBef>
                <a:spcPct val="0"/>
              </a:spcBef>
            </a:pPr>
            <a:r>
              <a:rPr lang="en-US" sz="3999" spc="3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dropout_compare_accuracy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3086100"/>
            <a:chOff x="0" y="0"/>
            <a:chExt cx="4816593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812800"/>
            </a:xfrm>
            <a:custGeom>
              <a:avLst/>
              <a:gdLst/>
              <a:ahLst/>
              <a:cxnLst/>
              <a:rect r="r" b="b" t="t" l="l"/>
              <a:pathLst>
                <a:path h="8128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816593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451022" y="-4729397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851369" y="-3442596"/>
            <a:ext cx="6709932" cy="6885191"/>
          </a:xfrm>
          <a:custGeom>
            <a:avLst/>
            <a:gdLst/>
            <a:ahLst/>
            <a:cxnLst/>
            <a:rect r="r" b="b" t="t" l="l"/>
            <a:pathLst>
              <a:path h="6885191" w="6709932">
                <a:moveTo>
                  <a:pt x="0" y="0"/>
                </a:moveTo>
                <a:lnTo>
                  <a:pt x="6709932" y="0"/>
                </a:lnTo>
                <a:lnTo>
                  <a:pt x="6709932" y="6885192"/>
                </a:lnTo>
                <a:lnTo>
                  <a:pt x="0" y="68851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690980" y="801402"/>
            <a:ext cx="10906040" cy="1349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82"/>
              </a:lnSpc>
            </a:pPr>
            <a:r>
              <a:rPr lang="en-US" b="true" sz="8030" spc="786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분석 결과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3805406"/>
            <a:ext cx="16230600" cy="2457673"/>
            <a:chOff x="0" y="0"/>
            <a:chExt cx="21640800" cy="32768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3773151" cy="3276898"/>
              <a:chOff x="0" y="0"/>
              <a:chExt cx="745314" cy="647288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45314" cy="647288"/>
              </a:xfrm>
              <a:custGeom>
                <a:avLst/>
                <a:gdLst/>
                <a:ahLst/>
                <a:cxnLst/>
                <a:rect r="r" b="b" t="t" l="l"/>
                <a:pathLst>
                  <a:path h="647288" w="745314">
                    <a:moveTo>
                      <a:pt x="0" y="0"/>
                    </a:moveTo>
                    <a:lnTo>
                      <a:pt x="745314" y="0"/>
                    </a:lnTo>
                    <a:lnTo>
                      <a:pt x="745314" y="647288"/>
                    </a:lnTo>
                    <a:lnTo>
                      <a:pt x="0" y="647288"/>
                    </a:lnTo>
                    <a:close/>
                  </a:path>
                </a:pathLst>
              </a:custGeom>
              <a:solidFill>
                <a:srgbClr val="1A1A1A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745314" cy="7044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4114"/>
                  </a:lnSpc>
                  <a:spcBef>
                    <a:spcPct val="0"/>
                  </a:spcBef>
                </a:pPr>
                <a:r>
                  <a:rPr lang="en-US" sz="2981" spc="29">
                    <a:solidFill>
                      <a:srgbClr val="FFFFFF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He의 우수성</a:t>
                </a: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3773151" y="0"/>
              <a:ext cx="17867649" cy="3276898"/>
              <a:chOff x="0" y="0"/>
              <a:chExt cx="2587900" cy="4746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587900" cy="474617"/>
              </a:xfrm>
              <a:custGeom>
                <a:avLst/>
                <a:gdLst/>
                <a:ahLst/>
                <a:cxnLst/>
                <a:rect r="r" b="b" t="t" l="l"/>
                <a:pathLst>
                  <a:path h="474617" w="2587900">
                    <a:moveTo>
                      <a:pt x="0" y="0"/>
                    </a:moveTo>
                    <a:lnTo>
                      <a:pt x="2587900" y="0"/>
                    </a:lnTo>
                    <a:lnTo>
                      <a:pt x="2587900" y="474617"/>
                    </a:lnTo>
                    <a:lnTo>
                      <a:pt x="0" y="47461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19050"/>
                <a:ext cx="2587900" cy="4936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59"/>
                  </a:lnSpc>
                </a:pPr>
              </a:p>
            </p:txBody>
          </p:sp>
        </p:grpSp>
      </p:grpSp>
      <p:sp>
        <p:nvSpPr>
          <p:cNvPr name="TextBox 16" id="16"/>
          <p:cNvSpPr txBox="true"/>
          <p:nvPr/>
        </p:nvSpPr>
        <p:spPr>
          <a:xfrm rot="0">
            <a:off x="3858563" y="3906459"/>
            <a:ext cx="12777470" cy="2217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7305" indent="-278653" lvl="1">
              <a:lnSpc>
                <a:spcPts val="3562"/>
              </a:lnSpc>
              <a:buFont typeface="Arial"/>
              <a:buChar char="•"/>
            </a:pPr>
            <a:r>
              <a:rPr lang="en-US" sz="2581" spc="25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Std=0.01: 활성화 값이 0에 치우쳐 기울기 소실(Vanishing Gradient) 발생. 학습 실패.</a:t>
            </a:r>
          </a:p>
          <a:p>
            <a:pPr algn="l" marL="557305" indent="-278653" lvl="1">
              <a:lnSpc>
                <a:spcPts val="3562"/>
              </a:lnSpc>
              <a:buFont typeface="Arial"/>
              <a:buChar char="•"/>
            </a:pPr>
            <a:r>
              <a:rPr lang="en-US" sz="2581" spc="25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Xavier: Sigmoid에 적합하나, ReLU에서는 층이 깊어질수록 값이 치우침.</a:t>
            </a:r>
          </a:p>
          <a:p>
            <a:pPr algn="l" marL="557305" indent="-278653" lvl="1">
              <a:lnSpc>
                <a:spcPts val="3562"/>
              </a:lnSpc>
              <a:buFont typeface="Arial"/>
              <a:buChar char="•"/>
            </a:pPr>
            <a:r>
              <a:rPr lang="en-US" sz="2581" spc="25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He Init: ReLU에 최적화된 초기값. 넓은 분포를 유지하여 깊은 신경망에서도 학습이 원활함.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28700" y="7120329"/>
            <a:ext cx="16230600" cy="2457673"/>
            <a:chOff x="0" y="0"/>
            <a:chExt cx="21640800" cy="3276898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3773151" cy="3276898"/>
              <a:chOff x="0" y="0"/>
              <a:chExt cx="745314" cy="64728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745314" cy="647288"/>
              </a:xfrm>
              <a:custGeom>
                <a:avLst/>
                <a:gdLst/>
                <a:ahLst/>
                <a:cxnLst/>
                <a:rect r="r" b="b" t="t" l="l"/>
                <a:pathLst>
                  <a:path h="647288" w="745314">
                    <a:moveTo>
                      <a:pt x="0" y="0"/>
                    </a:moveTo>
                    <a:lnTo>
                      <a:pt x="745314" y="0"/>
                    </a:lnTo>
                    <a:lnTo>
                      <a:pt x="745314" y="647288"/>
                    </a:lnTo>
                    <a:lnTo>
                      <a:pt x="0" y="647288"/>
                    </a:lnTo>
                    <a:close/>
                  </a:path>
                </a:pathLst>
              </a:custGeom>
              <a:solidFill>
                <a:srgbClr val="1A1A1A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57150"/>
                <a:ext cx="745314" cy="7044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4114"/>
                  </a:lnSpc>
                  <a:spcBef>
                    <a:spcPct val="0"/>
                  </a:spcBef>
                </a:pPr>
                <a:r>
                  <a:rPr lang="en-US" sz="2981" spc="29">
                    <a:solidFill>
                      <a:srgbClr val="FFFFFF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Batch Normalization</a:t>
                </a: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3773151" y="0"/>
              <a:ext cx="17867649" cy="3276898"/>
              <a:chOff x="0" y="0"/>
              <a:chExt cx="2587900" cy="474617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587900" cy="474617"/>
              </a:xfrm>
              <a:custGeom>
                <a:avLst/>
                <a:gdLst/>
                <a:ahLst/>
                <a:cxnLst/>
                <a:rect r="r" b="b" t="t" l="l"/>
                <a:pathLst>
                  <a:path h="474617" w="2587900">
                    <a:moveTo>
                      <a:pt x="0" y="0"/>
                    </a:moveTo>
                    <a:lnTo>
                      <a:pt x="2587900" y="0"/>
                    </a:lnTo>
                    <a:lnTo>
                      <a:pt x="2587900" y="474617"/>
                    </a:lnTo>
                    <a:lnTo>
                      <a:pt x="0" y="47461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19050"/>
                <a:ext cx="2587900" cy="4936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59"/>
                  </a:lnSpc>
                </a:pPr>
              </a:p>
            </p:txBody>
          </p:sp>
        </p:grpSp>
      </p:grpSp>
      <p:sp>
        <p:nvSpPr>
          <p:cNvPr name="TextBox 24" id="24"/>
          <p:cNvSpPr txBox="true"/>
          <p:nvPr/>
        </p:nvSpPr>
        <p:spPr>
          <a:xfrm rot="0">
            <a:off x="3858563" y="7221383"/>
            <a:ext cx="12777470" cy="2217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7305" indent="-278653" lvl="1">
              <a:lnSpc>
                <a:spcPts val="3562"/>
              </a:lnSpc>
              <a:buFont typeface="Arial"/>
              <a:buChar char="•"/>
            </a:pPr>
            <a:r>
              <a:rPr lang="en-US" sz="2581" spc="25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학습 속도 가속: 훨씬 적은 Epoch으로 높은 정확도 도달.</a:t>
            </a:r>
          </a:p>
          <a:p>
            <a:pPr algn="l">
              <a:lnSpc>
                <a:spcPts val="3562"/>
              </a:lnSpc>
            </a:pPr>
          </a:p>
          <a:p>
            <a:pPr algn="l" marL="557305" indent="-278653" lvl="1">
              <a:lnSpc>
                <a:spcPts val="3562"/>
              </a:lnSpc>
              <a:buFont typeface="Arial"/>
              <a:buChar char="•"/>
            </a:pPr>
            <a:r>
              <a:rPr lang="en-US" sz="2581" spc="25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초기값 의존도 감소: 가중치 초기값에 덜 민감하게 반응하여 안정적 학습 가능.</a:t>
            </a:r>
          </a:p>
          <a:p>
            <a:pPr algn="l">
              <a:lnSpc>
                <a:spcPts val="3562"/>
              </a:lnSpc>
            </a:pPr>
          </a:p>
          <a:p>
            <a:pPr algn="l" marL="557305" indent="-278653" lvl="1">
              <a:lnSpc>
                <a:spcPts val="3562"/>
              </a:lnSpc>
              <a:buFont typeface="Arial"/>
              <a:buChar char="•"/>
            </a:pPr>
            <a:r>
              <a:rPr lang="en-US" sz="2581" spc="25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규제 효과: Dropout 없이도 오버피팅 억제 효과 일부 존재.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3086100"/>
            <a:chOff x="0" y="0"/>
            <a:chExt cx="4816593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812800"/>
            </a:xfrm>
            <a:custGeom>
              <a:avLst/>
              <a:gdLst/>
              <a:ahLst/>
              <a:cxnLst/>
              <a:rect r="r" b="b" t="t" l="l"/>
              <a:pathLst>
                <a:path h="8128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816593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451022" y="-4729397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851369" y="-3442596"/>
            <a:ext cx="6709932" cy="6885191"/>
          </a:xfrm>
          <a:custGeom>
            <a:avLst/>
            <a:gdLst/>
            <a:ahLst/>
            <a:cxnLst/>
            <a:rect r="r" b="b" t="t" l="l"/>
            <a:pathLst>
              <a:path h="6885191" w="6709932">
                <a:moveTo>
                  <a:pt x="0" y="0"/>
                </a:moveTo>
                <a:lnTo>
                  <a:pt x="6709932" y="0"/>
                </a:lnTo>
                <a:lnTo>
                  <a:pt x="6709932" y="6885192"/>
                </a:lnTo>
                <a:lnTo>
                  <a:pt x="0" y="68851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690980" y="801402"/>
            <a:ext cx="10906040" cy="1349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82"/>
              </a:lnSpc>
            </a:pPr>
            <a:r>
              <a:rPr lang="en-US" b="true" sz="8030" spc="786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결론 및 향후 과제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3805406"/>
            <a:ext cx="2829863" cy="5452894"/>
            <a:chOff x="0" y="0"/>
            <a:chExt cx="745314" cy="14361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45314" cy="1436153"/>
            </a:xfrm>
            <a:custGeom>
              <a:avLst/>
              <a:gdLst/>
              <a:ahLst/>
              <a:cxnLst/>
              <a:rect r="r" b="b" t="t" l="l"/>
              <a:pathLst>
                <a:path h="1436153" w="745314">
                  <a:moveTo>
                    <a:pt x="0" y="0"/>
                  </a:moveTo>
                  <a:lnTo>
                    <a:pt x="745314" y="0"/>
                  </a:lnTo>
                  <a:lnTo>
                    <a:pt x="745314" y="1436153"/>
                  </a:lnTo>
                  <a:lnTo>
                    <a:pt x="0" y="1436153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745314" cy="1493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  <a:r>
                <a:rPr lang="en-US" sz="2981" spc="2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최종 요약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858563" y="3805406"/>
            <a:ext cx="13400737" cy="5452894"/>
            <a:chOff x="0" y="0"/>
            <a:chExt cx="2587900" cy="10530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7900" cy="1053043"/>
            </a:xfrm>
            <a:custGeom>
              <a:avLst/>
              <a:gdLst/>
              <a:ahLst/>
              <a:cxnLst/>
              <a:rect r="r" b="b" t="t" l="l"/>
              <a:pathLst>
                <a:path h="1053043" w="2587900">
                  <a:moveTo>
                    <a:pt x="0" y="0"/>
                  </a:moveTo>
                  <a:lnTo>
                    <a:pt x="2587900" y="0"/>
                  </a:lnTo>
                  <a:lnTo>
                    <a:pt x="2587900" y="1053043"/>
                  </a:lnTo>
                  <a:lnTo>
                    <a:pt x="0" y="10530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2587900" cy="1072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858563" y="4732557"/>
            <a:ext cx="13234099" cy="3560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7305" indent="-278653" lvl="1">
              <a:lnSpc>
                <a:spcPts val="3562"/>
              </a:lnSpc>
              <a:buFont typeface="Arial"/>
              <a:buChar char="•"/>
            </a:pPr>
            <a:r>
              <a:rPr lang="en-US" sz="2581" spc="25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Optimizer: Adam이 Fashion MNIST 데이터셋에서 가장 빠르고 안정적인 수렴을 보여줌.</a:t>
            </a:r>
          </a:p>
          <a:p>
            <a:pPr algn="l">
              <a:lnSpc>
                <a:spcPts val="3562"/>
              </a:lnSpc>
            </a:pPr>
          </a:p>
          <a:p>
            <a:pPr algn="l" marL="557305" indent="-278653" lvl="1">
              <a:lnSpc>
                <a:spcPts val="3562"/>
              </a:lnSpc>
              <a:buFont typeface="Arial"/>
              <a:buChar char="•"/>
            </a:pPr>
            <a:r>
              <a:rPr lang="en-US" sz="2581" spc="25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Weight Init: ReLU 활성화 함수 사용 시 He Initialization이 필수적임.</a:t>
            </a:r>
          </a:p>
          <a:p>
            <a:pPr algn="l">
              <a:lnSpc>
                <a:spcPts val="3562"/>
              </a:lnSpc>
            </a:pPr>
          </a:p>
          <a:p>
            <a:pPr algn="l" marL="557305" indent="-278653" lvl="1">
              <a:lnSpc>
                <a:spcPts val="3562"/>
              </a:lnSpc>
              <a:buFont typeface="Arial"/>
              <a:buChar char="•"/>
            </a:pPr>
            <a:r>
              <a:rPr lang="en-US" sz="2581" spc="25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Batch Norm: 학습 시간을 획기적으로 단축시키며, 초기값 설정 실패 확률을 낮춤.</a:t>
            </a:r>
          </a:p>
          <a:p>
            <a:pPr algn="l">
              <a:lnSpc>
                <a:spcPts val="3562"/>
              </a:lnSpc>
            </a:pPr>
          </a:p>
          <a:p>
            <a:pPr algn="l" marL="557305" indent="-278653" lvl="1">
              <a:lnSpc>
                <a:spcPts val="3562"/>
              </a:lnSpc>
              <a:buFont typeface="Arial"/>
              <a:buChar char="•"/>
            </a:pPr>
            <a:r>
              <a:rPr lang="en-US" sz="2581" spc="252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종합: Adam + He Init + Batch Normalization 조합이 최적의 성능을 발휘함.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11120" y="-4076108"/>
            <a:ext cx="9333423" cy="9577206"/>
          </a:xfrm>
          <a:custGeom>
            <a:avLst/>
            <a:gdLst/>
            <a:ahLst/>
            <a:cxnLst/>
            <a:rect r="r" b="b" t="t" l="l"/>
            <a:pathLst>
              <a:path h="9577206" w="9333423">
                <a:moveTo>
                  <a:pt x="0" y="0"/>
                </a:moveTo>
                <a:lnTo>
                  <a:pt x="9333422" y="0"/>
                </a:lnTo>
                <a:lnTo>
                  <a:pt x="9333422" y="9577207"/>
                </a:lnTo>
                <a:lnTo>
                  <a:pt x="0" y="95772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463037" y="-5866298"/>
            <a:ext cx="9333423" cy="9577206"/>
          </a:xfrm>
          <a:custGeom>
            <a:avLst/>
            <a:gdLst/>
            <a:ahLst/>
            <a:cxnLst/>
            <a:rect r="r" b="b" t="t" l="l"/>
            <a:pathLst>
              <a:path h="9577206" w="9333423">
                <a:moveTo>
                  <a:pt x="0" y="0"/>
                </a:moveTo>
                <a:lnTo>
                  <a:pt x="9333423" y="0"/>
                </a:lnTo>
                <a:lnTo>
                  <a:pt x="9333423" y="9577206"/>
                </a:lnTo>
                <a:lnTo>
                  <a:pt x="0" y="95772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887814">
            <a:off x="14993922" y="7627206"/>
            <a:ext cx="7634959" cy="7834379"/>
          </a:xfrm>
          <a:custGeom>
            <a:avLst/>
            <a:gdLst/>
            <a:ahLst/>
            <a:cxnLst/>
            <a:rect r="r" b="b" t="t" l="l"/>
            <a:pathLst>
              <a:path h="7834379" w="7634959">
                <a:moveTo>
                  <a:pt x="0" y="0"/>
                </a:moveTo>
                <a:lnTo>
                  <a:pt x="7634958" y="0"/>
                </a:lnTo>
                <a:lnTo>
                  <a:pt x="7634958" y="7834379"/>
                </a:lnTo>
                <a:lnTo>
                  <a:pt x="0" y="78343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176364">
            <a:off x="-4084727" y="8222639"/>
            <a:ext cx="8815232" cy="9045480"/>
          </a:xfrm>
          <a:custGeom>
            <a:avLst/>
            <a:gdLst/>
            <a:ahLst/>
            <a:cxnLst/>
            <a:rect r="r" b="b" t="t" l="l"/>
            <a:pathLst>
              <a:path h="9045480" w="8815232">
                <a:moveTo>
                  <a:pt x="0" y="0"/>
                </a:moveTo>
                <a:lnTo>
                  <a:pt x="8815232" y="0"/>
                </a:lnTo>
                <a:lnTo>
                  <a:pt x="8815232" y="9045481"/>
                </a:lnTo>
                <a:lnTo>
                  <a:pt x="0" y="9045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374566" y="3590578"/>
            <a:ext cx="1740958" cy="1790191"/>
          </a:xfrm>
          <a:custGeom>
            <a:avLst/>
            <a:gdLst/>
            <a:ahLst/>
            <a:cxnLst/>
            <a:rect r="r" b="b" t="t" l="l"/>
            <a:pathLst>
              <a:path h="1790191" w="1740958">
                <a:moveTo>
                  <a:pt x="0" y="0"/>
                </a:moveTo>
                <a:lnTo>
                  <a:pt x="1740958" y="0"/>
                </a:lnTo>
                <a:lnTo>
                  <a:pt x="1740958" y="1790190"/>
                </a:lnTo>
                <a:lnTo>
                  <a:pt x="0" y="17901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017396" y="3590578"/>
            <a:ext cx="1875438" cy="1790191"/>
          </a:xfrm>
          <a:custGeom>
            <a:avLst/>
            <a:gdLst/>
            <a:ahLst/>
            <a:cxnLst/>
            <a:rect r="r" b="b" t="t" l="l"/>
            <a:pathLst>
              <a:path h="1790191" w="1875438">
                <a:moveTo>
                  <a:pt x="0" y="0"/>
                </a:moveTo>
                <a:lnTo>
                  <a:pt x="1875438" y="0"/>
                </a:lnTo>
                <a:lnTo>
                  <a:pt x="1875438" y="1790190"/>
                </a:lnTo>
                <a:lnTo>
                  <a:pt x="0" y="1790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151455" y="3590578"/>
            <a:ext cx="1985090" cy="1790191"/>
          </a:xfrm>
          <a:custGeom>
            <a:avLst/>
            <a:gdLst/>
            <a:ahLst/>
            <a:cxnLst/>
            <a:rect r="r" b="b" t="t" l="l"/>
            <a:pathLst>
              <a:path h="1790191" w="1985090">
                <a:moveTo>
                  <a:pt x="0" y="0"/>
                </a:moveTo>
                <a:lnTo>
                  <a:pt x="1985090" y="0"/>
                </a:lnTo>
                <a:lnTo>
                  <a:pt x="1985090" y="1790190"/>
                </a:lnTo>
                <a:lnTo>
                  <a:pt x="0" y="17901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13859" y="6573932"/>
            <a:ext cx="4262371" cy="1342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8"/>
              </a:lnSpc>
              <a:spcBef>
                <a:spcPct val="0"/>
              </a:spcBef>
            </a:pPr>
            <a:r>
              <a:rPr lang="en-US" sz="1977" spc="19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현재 MLP 구조의 한계를 넘어 이미지의 공간적 특성을 활용하는 CNN(Convolutional Neural Network) 적용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71009" y="6573932"/>
            <a:ext cx="4262371" cy="1004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8"/>
              </a:lnSpc>
              <a:spcBef>
                <a:spcPct val="0"/>
              </a:spcBef>
            </a:pPr>
            <a:r>
              <a:rPr lang="en-US" sz="1977" spc="19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회전, 이동, 반전 등을 통한 데이터 증강으로 모델의 일반화 성능 추가 확보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23930" y="6573932"/>
            <a:ext cx="4262371" cy="1004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8"/>
              </a:lnSpc>
              <a:spcBef>
                <a:spcPct val="0"/>
              </a:spcBef>
            </a:pPr>
            <a:r>
              <a:rPr lang="en-US" sz="1977" spc="19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Random Search 또는 Bayesian Optimization을 활용한 체계적인 하이퍼파라미터 최적화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90980" y="801402"/>
            <a:ext cx="10906040" cy="1349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82"/>
              </a:lnSpc>
            </a:pPr>
            <a:r>
              <a:rPr lang="en-US" b="true" sz="8030" spc="786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결론 및 향후 과제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711549" y="5699273"/>
            <a:ext cx="4487133" cy="788676"/>
            <a:chOff x="0" y="0"/>
            <a:chExt cx="1201485" cy="21117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01485" cy="211178"/>
            </a:xfrm>
            <a:custGeom>
              <a:avLst/>
              <a:gdLst/>
              <a:ahLst/>
              <a:cxnLst/>
              <a:rect r="r" b="b" t="t" l="l"/>
              <a:pathLst>
                <a:path h="211178" w="1201485">
                  <a:moveTo>
                    <a:pt x="31056" y="0"/>
                  </a:moveTo>
                  <a:lnTo>
                    <a:pt x="1170429" y="0"/>
                  </a:lnTo>
                  <a:cubicBezTo>
                    <a:pt x="1178666" y="0"/>
                    <a:pt x="1186565" y="3272"/>
                    <a:pt x="1192389" y="9096"/>
                  </a:cubicBezTo>
                  <a:cubicBezTo>
                    <a:pt x="1198213" y="14920"/>
                    <a:pt x="1201485" y="22820"/>
                    <a:pt x="1201485" y="31056"/>
                  </a:cubicBezTo>
                  <a:lnTo>
                    <a:pt x="1201485" y="180121"/>
                  </a:lnTo>
                  <a:cubicBezTo>
                    <a:pt x="1201485" y="197273"/>
                    <a:pt x="1187581" y="211178"/>
                    <a:pt x="1170429" y="211178"/>
                  </a:cubicBezTo>
                  <a:lnTo>
                    <a:pt x="31056" y="211178"/>
                  </a:lnTo>
                  <a:cubicBezTo>
                    <a:pt x="13904" y="211178"/>
                    <a:pt x="0" y="197273"/>
                    <a:pt x="0" y="180121"/>
                  </a:cubicBezTo>
                  <a:lnTo>
                    <a:pt x="0" y="31056"/>
                  </a:lnTo>
                  <a:cubicBezTo>
                    <a:pt x="0" y="13904"/>
                    <a:pt x="13904" y="0"/>
                    <a:pt x="31056" y="0"/>
                  </a:cubicBezTo>
                  <a:close/>
                </a:path>
              </a:pathLst>
            </a:custGeom>
            <a:solidFill>
              <a:srgbClr val="F2F4F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38125"/>
              <a:ext cx="1201485" cy="449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578"/>
                </a:lnSpc>
                <a:spcBef>
                  <a:spcPct val="0"/>
                </a:spcBef>
              </a:pPr>
              <a:r>
                <a:rPr lang="en-US" b="true" sz="2524" spc="146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Hyperparameter Tuning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900433" y="5699273"/>
            <a:ext cx="4487133" cy="788676"/>
            <a:chOff x="0" y="0"/>
            <a:chExt cx="1201485" cy="21117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01485" cy="211178"/>
            </a:xfrm>
            <a:custGeom>
              <a:avLst/>
              <a:gdLst/>
              <a:ahLst/>
              <a:cxnLst/>
              <a:rect r="r" b="b" t="t" l="l"/>
              <a:pathLst>
                <a:path h="211178" w="1201485">
                  <a:moveTo>
                    <a:pt x="31056" y="0"/>
                  </a:moveTo>
                  <a:lnTo>
                    <a:pt x="1170429" y="0"/>
                  </a:lnTo>
                  <a:cubicBezTo>
                    <a:pt x="1178666" y="0"/>
                    <a:pt x="1186565" y="3272"/>
                    <a:pt x="1192389" y="9096"/>
                  </a:cubicBezTo>
                  <a:cubicBezTo>
                    <a:pt x="1198213" y="14920"/>
                    <a:pt x="1201485" y="22820"/>
                    <a:pt x="1201485" y="31056"/>
                  </a:cubicBezTo>
                  <a:lnTo>
                    <a:pt x="1201485" y="180121"/>
                  </a:lnTo>
                  <a:cubicBezTo>
                    <a:pt x="1201485" y="197273"/>
                    <a:pt x="1187581" y="211178"/>
                    <a:pt x="1170429" y="211178"/>
                  </a:cubicBezTo>
                  <a:lnTo>
                    <a:pt x="31056" y="211178"/>
                  </a:lnTo>
                  <a:cubicBezTo>
                    <a:pt x="13904" y="211178"/>
                    <a:pt x="0" y="197273"/>
                    <a:pt x="0" y="180121"/>
                  </a:cubicBezTo>
                  <a:lnTo>
                    <a:pt x="0" y="31056"/>
                  </a:lnTo>
                  <a:cubicBezTo>
                    <a:pt x="0" y="13904"/>
                    <a:pt x="13904" y="0"/>
                    <a:pt x="31056" y="0"/>
                  </a:cubicBezTo>
                  <a:close/>
                </a:path>
              </a:pathLst>
            </a:custGeom>
            <a:solidFill>
              <a:srgbClr val="F2F4F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38125"/>
              <a:ext cx="1201485" cy="449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578"/>
                </a:lnSpc>
                <a:spcBef>
                  <a:spcPct val="0"/>
                </a:spcBef>
              </a:pPr>
              <a:r>
                <a:rPr lang="en-US" b="true" sz="2524" spc="146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Data Augmentation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001478" y="5699273"/>
            <a:ext cx="4487133" cy="788676"/>
            <a:chOff x="0" y="0"/>
            <a:chExt cx="1201485" cy="21117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01485" cy="211178"/>
            </a:xfrm>
            <a:custGeom>
              <a:avLst/>
              <a:gdLst/>
              <a:ahLst/>
              <a:cxnLst/>
              <a:rect r="r" b="b" t="t" l="l"/>
              <a:pathLst>
                <a:path h="211178" w="1201485">
                  <a:moveTo>
                    <a:pt x="31056" y="0"/>
                  </a:moveTo>
                  <a:lnTo>
                    <a:pt x="1170429" y="0"/>
                  </a:lnTo>
                  <a:cubicBezTo>
                    <a:pt x="1178666" y="0"/>
                    <a:pt x="1186565" y="3272"/>
                    <a:pt x="1192389" y="9096"/>
                  </a:cubicBezTo>
                  <a:cubicBezTo>
                    <a:pt x="1198213" y="14920"/>
                    <a:pt x="1201485" y="22820"/>
                    <a:pt x="1201485" y="31056"/>
                  </a:cubicBezTo>
                  <a:lnTo>
                    <a:pt x="1201485" y="180121"/>
                  </a:lnTo>
                  <a:cubicBezTo>
                    <a:pt x="1201485" y="197273"/>
                    <a:pt x="1187581" y="211178"/>
                    <a:pt x="1170429" y="211178"/>
                  </a:cubicBezTo>
                  <a:lnTo>
                    <a:pt x="31056" y="211178"/>
                  </a:lnTo>
                  <a:cubicBezTo>
                    <a:pt x="13904" y="211178"/>
                    <a:pt x="0" y="197273"/>
                    <a:pt x="0" y="180121"/>
                  </a:cubicBezTo>
                  <a:lnTo>
                    <a:pt x="0" y="31056"/>
                  </a:lnTo>
                  <a:cubicBezTo>
                    <a:pt x="0" y="13904"/>
                    <a:pt x="13904" y="0"/>
                    <a:pt x="31056" y="0"/>
                  </a:cubicBezTo>
                  <a:close/>
                </a:path>
              </a:pathLst>
            </a:custGeom>
            <a:solidFill>
              <a:srgbClr val="F2F4F5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38125"/>
              <a:ext cx="1201485" cy="449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578"/>
                </a:lnSpc>
                <a:spcBef>
                  <a:spcPct val="0"/>
                </a:spcBef>
              </a:pPr>
              <a:r>
                <a:rPr lang="en-US" b="true" sz="2524" spc="146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CNN 도입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580377">
            <a:off x="12420356" y="-10209431"/>
            <a:ext cx="24036383" cy="24664199"/>
          </a:xfrm>
          <a:custGeom>
            <a:avLst/>
            <a:gdLst/>
            <a:ahLst/>
            <a:cxnLst/>
            <a:rect r="r" b="b" t="t" l="l"/>
            <a:pathLst>
              <a:path h="24664199" w="24036383">
                <a:moveTo>
                  <a:pt x="0" y="0"/>
                </a:moveTo>
                <a:lnTo>
                  <a:pt x="24036383" y="0"/>
                </a:lnTo>
                <a:lnTo>
                  <a:pt x="24036383" y="24664199"/>
                </a:lnTo>
                <a:lnTo>
                  <a:pt x="0" y="246641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4254153" y="7476061"/>
            <a:ext cx="11881594" cy="3564478"/>
          </a:xfrm>
          <a:custGeom>
            <a:avLst/>
            <a:gdLst/>
            <a:ahLst/>
            <a:cxnLst/>
            <a:rect r="r" b="b" t="t" l="l"/>
            <a:pathLst>
              <a:path h="3564478" w="11881594">
                <a:moveTo>
                  <a:pt x="11881594" y="0"/>
                </a:moveTo>
                <a:lnTo>
                  <a:pt x="0" y="0"/>
                </a:lnTo>
                <a:lnTo>
                  <a:pt x="0" y="3564478"/>
                </a:lnTo>
                <a:lnTo>
                  <a:pt x="11881594" y="3564478"/>
                </a:lnTo>
                <a:lnTo>
                  <a:pt x="1188159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2274987"/>
            <a:ext cx="7252471" cy="7544833"/>
          </a:xfrm>
          <a:custGeom>
            <a:avLst/>
            <a:gdLst/>
            <a:ahLst/>
            <a:cxnLst/>
            <a:rect r="r" b="b" t="t" l="l"/>
            <a:pathLst>
              <a:path h="7544833" w="7252471">
                <a:moveTo>
                  <a:pt x="0" y="0"/>
                </a:moveTo>
                <a:lnTo>
                  <a:pt x="7252471" y="0"/>
                </a:lnTo>
                <a:lnTo>
                  <a:pt x="7252471" y="7544833"/>
                </a:lnTo>
                <a:lnTo>
                  <a:pt x="0" y="75448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923925"/>
            <a:ext cx="5436444" cy="1066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38"/>
              </a:lnSpc>
              <a:spcBef>
                <a:spcPct val="0"/>
              </a:spcBef>
            </a:pPr>
            <a:r>
              <a:rPr lang="en-US" b="true" sz="6332" spc="620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협업 과정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580377">
            <a:off x="12420356" y="-10209431"/>
            <a:ext cx="24036383" cy="24664199"/>
          </a:xfrm>
          <a:custGeom>
            <a:avLst/>
            <a:gdLst/>
            <a:ahLst/>
            <a:cxnLst/>
            <a:rect r="r" b="b" t="t" l="l"/>
            <a:pathLst>
              <a:path h="24664199" w="24036383">
                <a:moveTo>
                  <a:pt x="0" y="0"/>
                </a:moveTo>
                <a:lnTo>
                  <a:pt x="24036383" y="0"/>
                </a:lnTo>
                <a:lnTo>
                  <a:pt x="24036383" y="24664199"/>
                </a:lnTo>
                <a:lnTo>
                  <a:pt x="0" y="246641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08554" y="3441556"/>
            <a:ext cx="8097687" cy="324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015"/>
              </a:lnSpc>
              <a:spcBef>
                <a:spcPct val="0"/>
              </a:spcBef>
            </a:pPr>
            <a:r>
              <a:rPr lang="en-US" b="true" sz="9431" spc="924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THANK'S FOR WATCHING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-4254153" y="7476061"/>
            <a:ext cx="11881594" cy="3564478"/>
          </a:xfrm>
          <a:custGeom>
            <a:avLst/>
            <a:gdLst/>
            <a:ahLst/>
            <a:cxnLst/>
            <a:rect r="r" b="b" t="t" l="l"/>
            <a:pathLst>
              <a:path h="3564478" w="11881594">
                <a:moveTo>
                  <a:pt x="11881594" y="0"/>
                </a:moveTo>
                <a:lnTo>
                  <a:pt x="0" y="0"/>
                </a:lnTo>
                <a:lnTo>
                  <a:pt x="0" y="3564478"/>
                </a:lnTo>
                <a:lnTo>
                  <a:pt x="11881594" y="3564478"/>
                </a:lnTo>
                <a:lnTo>
                  <a:pt x="1188159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DAG6XnuL-Es</dc:identifier>
  <dcterms:modified xsi:type="dcterms:W3CDTF">2011-08-01T06:04:30Z</dcterms:modified>
  <cp:revision>1</cp:revision>
  <dc:title>신경망 중간 발표</dc:title>
</cp:coreProperties>
</file>