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swald Bold" charset="1" panose="00000800000000000000"/>
      <p:regular r:id="rId22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Oswald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36347" y="3039068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36347" y="4463796"/>
            <a:ext cx="9815307" cy="12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5"/>
              </a:lnSpc>
            </a:pPr>
            <a:r>
              <a:rPr lang="en-US" b="true" sz="7200" spc="705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신경망 중간 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347" y="7367200"/>
            <a:ext cx="9815307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6"/>
              </a:lnSpc>
            </a:pPr>
            <a:r>
              <a:rPr lang="en-US" b="true" sz="3200" spc="31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한동윤, 강우현, 황지인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0992" y="3556399"/>
            <a:ext cx="1400485" cy="5402009"/>
            <a:chOff x="0" y="0"/>
            <a:chExt cx="368852" cy="14227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422751"/>
            </a:xfrm>
            <a:custGeom>
              <a:avLst/>
              <a:gdLst/>
              <a:ahLst/>
              <a:cxnLst/>
              <a:rect r="r" b="b" t="t" l="l"/>
              <a:pathLst>
                <a:path h="1422751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422751"/>
                  </a:lnTo>
                  <a:lnTo>
                    <a:pt x="0" y="1422751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441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0369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93025" y="387988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3025" y="467700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3025" y="555816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3025" y="6355282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2626" y="7147659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2626" y="797862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9102" y="3929548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목적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102" y="4780321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프로젝트 구조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9102" y="5585214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방법론 &amp; 설계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69102" y="6455037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과정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9102" y="7324860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분석 결과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9102" y="8089875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결론 및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62" y="6101928"/>
            <a:ext cx="16193038" cy="1714856"/>
          </a:xfrm>
          <a:custGeom>
            <a:avLst/>
            <a:gdLst/>
            <a:ahLst/>
            <a:cxnLst/>
            <a:rect r="r" b="b" t="t" l="l"/>
            <a:pathLst>
              <a:path h="1714856" w="16193038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6262" y="3723397"/>
            <a:ext cx="15955743" cy="3235960"/>
            <a:chOff x="0" y="0"/>
            <a:chExt cx="3682024" cy="74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2024" cy="746746"/>
            </a:xfrm>
            <a:custGeom>
              <a:avLst/>
              <a:gdLst/>
              <a:ahLst/>
              <a:cxnLst/>
              <a:rect r="r" b="b" t="t" l="l"/>
              <a:pathLst>
                <a:path h="746746" w="3682024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78768" y="4575665"/>
            <a:ext cx="1604697" cy="1628382"/>
          </a:xfrm>
          <a:custGeom>
            <a:avLst/>
            <a:gdLst/>
            <a:ahLst/>
            <a:cxnLst/>
            <a:rect r="r" b="b" t="t" l="l"/>
            <a:pathLst>
              <a:path h="1628382" w="1604697">
                <a:moveTo>
                  <a:pt x="0" y="0"/>
                </a:moveTo>
                <a:lnTo>
                  <a:pt x="1604697" y="0"/>
                </a:lnTo>
                <a:lnTo>
                  <a:pt x="1604697" y="1628383"/>
                </a:lnTo>
                <a:lnTo>
                  <a:pt x="0" y="1628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262" y="876300"/>
            <a:ext cx="6381977" cy="145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2"/>
              </a:lnSpc>
            </a:pPr>
            <a:r>
              <a:rPr lang="en-US" b="true" sz="8588" spc="841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목적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5224" y="3998392"/>
            <a:ext cx="12676032" cy="6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속도 개선: SGD, Adam 등 다양한 Optimizer 비교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초기값의 중요성: X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avier vs He Initialization 성능 평가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일반화 성능 확보: 배치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정규화 및 오버피팅 방지 기법 적용</a:t>
            </a:r>
          </a:p>
          <a:p>
            <a:pPr algn="l">
              <a:lnSpc>
                <a:spcPts val="4537"/>
              </a:lnSpc>
            </a:pPr>
          </a:p>
          <a:p>
            <a:pPr algn="l">
              <a:lnSpc>
                <a:spcPts val="4537"/>
              </a:lnSpc>
            </a:pPr>
          </a:p>
          <a:p>
            <a:pPr algn="l">
              <a:lnSpc>
                <a:spcPts val="4537"/>
              </a:lnSpc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"동일한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신경망 구조에서 최적화 전략이 모델의 수렴 속도와 최종 정확도에 미치는 영향을 정량적으로 분석합니다."</a:t>
            </a:r>
          </a:p>
          <a:p>
            <a:pPr algn="l">
              <a:lnSpc>
                <a:spcPts val="4668"/>
              </a:lnSpc>
            </a:pP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67511" y="82111"/>
            <a:ext cx="11552977" cy="116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프로젝트 구조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6228" y="1599487"/>
            <a:ext cx="4486542" cy="8229600"/>
          </a:xfrm>
          <a:custGeom>
            <a:avLst/>
            <a:gdLst/>
            <a:ahLst/>
            <a:cxnLst/>
            <a:rect r="r" b="b" t="t" l="l"/>
            <a:pathLst>
              <a:path h="8229600" w="4486542">
                <a:moveTo>
                  <a:pt x="0" y="0"/>
                </a:moveTo>
                <a:lnTo>
                  <a:pt x="4486542" y="0"/>
                </a:lnTo>
                <a:lnTo>
                  <a:pt x="448654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46617" y="3971941"/>
            <a:ext cx="12676032" cy="342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common/: 신경망 계층, 최적화 함수 등 공통 모듈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ata/: Fashion MNIST 데이터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utils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/: MNIST reader</a:t>
            </a: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4801028"/>
          <a:ext cx="16230600" cy="4614520"/>
        </p:xfrm>
        <a:graphic>
          <a:graphicData uri="http://schemas.openxmlformats.org/drawingml/2006/table">
            <a:tbl>
              <a:tblPr/>
              <a:tblGrid>
                <a:gridCol w="5483504"/>
                <a:gridCol w="10747096"/>
              </a:tblGrid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계층 (Layeer)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설정 (Configuration)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Input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784 Nodes (28 x 28 Image Flattend)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Hidden Layers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4~5 Layers, 각각 100 Nodes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ReLU (Rectified Linear Unit)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Output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 Nodes (Softmax Classification)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690980" y="1232286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방법론 &amp; 설계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687909"/>
            <a:ext cx="12676032" cy="115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Multi-Layer Perceptron (MLP)</a:t>
            </a: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045">
            <a:off x="-402841" y="5307804"/>
            <a:ext cx="18804424" cy="8068807"/>
          </a:xfrm>
          <a:custGeom>
            <a:avLst/>
            <a:gdLst/>
            <a:ahLst/>
            <a:cxnLst/>
            <a:rect r="r" b="b" t="t" l="l"/>
            <a:pathLst>
              <a:path h="8068807" w="18804424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900353" y="3653528"/>
            <a:ext cx="4113179" cy="5112057"/>
            <a:chOff x="0" y="0"/>
            <a:chExt cx="1279723" cy="1590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95033" y="3653528"/>
            <a:ext cx="4113179" cy="5112057"/>
            <a:chOff x="0" y="0"/>
            <a:chExt cx="1279723" cy="15905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9311" y="3653528"/>
            <a:ext cx="4113179" cy="5112057"/>
            <a:chOff x="0" y="0"/>
            <a:chExt cx="1279723" cy="15905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636536" y="3913118"/>
            <a:ext cx="1418728" cy="1431744"/>
          </a:xfrm>
          <a:custGeom>
            <a:avLst/>
            <a:gdLst/>
            <a:ahLst/>
            <a:cxnLst/>
            <a:rect r="r" b="b" t="t" l="l"/>
            <a:pathLst>
              <a:path h="1431744" w="1418728">
                <a:moveTo>
                  <a:pt x="0" y="0"/>
                </a:moveTo>
                <a:lnTo>
                  <a:pt x="1418728" y="0"/>
                </a:lnTo>
                <a:lnTo>
                  <a:pt x="1418728" y="1431744"/>
                </a:lnTo>
                <a:lnTo>
                  <a:pt x="0" y="1431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83540" y="3858374"/>
            <a:ext cx="1320921" cy="1541232"/>
          </a:xfrm>
          <a:custGeom>
            <a:avLst/>
            <a:gdLst/>
            <a:ahLst/>
            <a:cxnLst/>
            <a:rect r="r" b="b" t="t" l="l"/>
            <a:pathLst>
              <a:path h="1541232" w="1320921">
                <a:moveTo>
                  <a:pt x="0" y="0"/>
                </a:moveTo>
                <a:lnTo>
                  <a:pt x="1320920" y="0"/>
                </a:lnTo>
                <a:lnTo>
                  <a:pt x="1320920" y="1541232"/>
                </a:lnTo>
                <a:lnTo>
                  <a:pt x="0" y="1541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01323" y="3913118"/>
            <a:ext cx="1496396" cy="1541232"/>
          </a:xfrm>
          <a:custGeom>
            <a:avLst/>
            <a:gdLst/>
            <a:ahLst/>
            <a:cxnLst/>
            <a:rect r="r" b="b" t="t" l="l"/>
            <a:pathLst>
              <a:path h="1541232" w="1496396">
                <a:moveTo>
                  <a:pt x="0" y="0"/>
                </a:moveTo>
                <a:lnTo>
                  <a:pt x="1496396" y="0"/>
                </a:lnTo>
                <a:lnTo>
                  <a:pt x="1496396" y="1541233"/>
                </a:lnTo>
                <a:lnTo>
                  <a:pt x="0" y="1541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43797" y="1155414"/>
            <a:ext cx="13617940" cy="159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9450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SGD: 기본 확률적 경사 하강법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Momentum: 관성 적용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AdaGrad: 학습률 적응형 조정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Adam: 모멘텀 + 적응형 학습률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1455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Std=0.01: 표준편차 0.01 (가우시안)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Xavier: Sigmoid/Tanh에 최적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He: ReLU에 최적화된 초기값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78209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Batch Normalization: 학습 안정화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Dropout: 뉴런 무작위 비활성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Weight Decay: L2 규제 적용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53315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OPTIMIZERS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6554" y="5586604"/>
            <a:ext cx="2974893" cy="105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WEIGHT INITIALIZATION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62074" y="5818444"/>
            <a:ext cx="2974893" cy="105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REGULARIZATION</a:t>
            </a:r>
          </a:p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0942" y="91717"/>
            <a:ext cx="6806117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학습 과정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6475" y="3874342"/>
            <a:ext cx="12676032" cy="400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Hyperparameters</a:t>
            </a:r>
          </a:p>
          <a:p>
            <a:pPr algn="l">
              <a:lnSpc>
                <a:spcPts val="4416"/>
              </a:lnSpc>
            </a:pP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ataset: Fashion MNIST (60,000 Train / 10,000 Test)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Batch Size: 128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Iterations: 2,000 (약 20 Epochs)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Learning Rate: 0.01 (Optimizer별 미세 조정)</a:t>
            </a:r>
          </a:p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60017" y="-12044846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85607" y="-3917030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343437" y="5653664"/>
            <a:ext cx="12691034" cy="0"/>
          </a:xfrm>
          <a:prstGeom prst="line">
            <a:avLst/>
          </a:prstGeom>
          <a:ln cap="flat" w="28575">
            <a:solidFill>
              <a:srgbClr val="FDFBF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983811" y="5444323"/>
            <a:ext cx="420894" cy="4208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97790" y="3851370"/>
            <a:ext cx="1392935" cy="139293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27856" y="3851370"/>
            <a:ext cx="1392935" cy="139293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56928" y="3851370"/>
            <a:ext cx="1392935" cy="13929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86000" y="3851370"/>
            <a:ext cx="1392935" cy="13929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48405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Fashion MNIST 데이터 로드 및 정규화 (0~1.0)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8147" y="6017495"/>
            <a:ext cx="29122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DATA LOAD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913877" y="5444323"/>
            <a:ext cx="420894" cy="42089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45839" y="5444323"/>
            <a:ext cx="420894" cy="4208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77801" y="5444323"/>
            <a:ext cx="420894" cy="42089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747695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Affine -&gt; ReLU -&gt; ... -&gt; Softmax 계층 통과 및 Loss 계산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55459" y="6017495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FORWARD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48950" y="6598520"/>
            <a:ext cx="2691704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오차역전파법(Backprop)을 통한 각 계층의 기울기(Gradient) 산출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87421" y="6017495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BACKWARD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42396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Optimizer 규칙에 따라 가중치(Weights) 갱신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19383" y="6018681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UPDATE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63674" y="91717"/>
            <a:ext cx="6806117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학습 과정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9702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3748509"/>
            <a:ext cx="8815665" cy="5509791"/>
          </a:xfrm>
          <a:custGeom>
            <a:avLst/>
            <a:gdLst/>
            <a:ahLst/>
            <a:cxnLst/>
            <a:rect r="r" b="b" t="t" l="l"/>
            <a:pathLst>
              <a:path h="5509791" w="8815665">
                <a:moveTo>
                  <a:pt x="0" y="0"/>
                </a:moveTo>
                <a:lnTo>
                  <a:pt x="8815665" y="0"/>
                </a:lnTo>
                <a:lnTo>
                  <a:pt x="881566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Optimizer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533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3748509"/>
            <a:ext cx="8815665" cy="5509791"/>
          </a:xfrm>
          <a:custGeom>
            <a:avLst/>
            <a:gdLst/>
            <a:ahLst/>
            <a:cxnLst/>
            <a:rect r="r" b="b" t="t" l="l"/>
            <a:pathLst>
              <a:path h="5509791" w="8815665">
                <a:moveTo>
                  <a:pt x="0" y="0"/>
                </a:moveTo>
                <a:lnTo>
                  <a:pt x="8815665" y="0"/>
                </a:lnTo>
                <a:lnTo>
                  <a:pt x="881566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weight-decay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748509"/>
            <a:ext cx="8815665" cy="5509791"/>
          </a:xfrm>
          <a:custGeom>
            <a:avLst/>
            <a:gdLst/>
            <a:ahLst/>
            <a:cxnLst/>
            <a:rect r="r" b="b" t="t" l="l"/>
            <a:pathLst>
              <a:path h="5509791" w="8815665">
                <a:moveTo>
                  <a:pt x="0" y="0"/>
                </a:moveTo>
                <a:lnTo>
                  <a:pt x="8815665" y="0"/>
                </a:lnTo>
                <a:lnTo>
                  <a:pt x="881566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7965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depth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499" y="3929966"/>
            <a:ext cx="9010815" cy="5149037"/>
          </a:xfrm>
          <a:custGeom>
            <a:avLst/>
            <a:gdLst/>
            <a:ahLst/>
            <a:cxnLst/>
            <a:rect r="r" b="b" t="t" l="l"/>
            <a:pathLst>
              <a:path h="5149037" w="9010815">
                <a:moveTo>
                  <a:pt x="0" y="0"/>
                </a:moveTo>
                <a:lnTo>
                  <a:pt x="9010816" y="0"/>
                </a:lnTo>
                <a:lnTo>
                  <a:pt x="9010816" y="5149037"/>
                </a:lnTo>
                <a:lnTo>
                  <a:pt x="0" y="5149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52678" y="3929966"/>
            <a:ext cx="8238460" cy="5149037"/>
          </a:xfrm>
          <a:custGeom>
            <a:avLst/>
            <a:gdLst/>
            <a:ahLst/>
            <a:cxnLst/>
            <a:rect r="r" b="b" t="t" l="l"/>
            <a:pathLst>
              <a:path h="5149037" w="8238460">
                <a:moveTo>
                  <a:pt x="0" y="0"/>
                </a:moveTo>
                <a:lnTo>
                  <a:pt x="8238460" y="0"/>
                </a:lnTo>
                <a:lnTo>
                  <a:pt x="8238460" y="5149037"/>
                </a:lnTo>
                <a:lnTo>
                  <a:pt x="0" y="5149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activation_init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805406"/>
            <a:ext cx="16230600" cy="2457673"/>
            <a:chOff x="0" y="0"/>
            <a:chExt cx="21640800" cy="32768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773151" cy="3276898"/>
              <a:chOff x="0" y="0"/>
              <a:chExt cx="745314" cy="6472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45314" cy="647288"/>
              </a:xfrm>
              <a:custGeom>
                <a:avLst/>
                <a:gdLst/>
                <a:ahLst/>
                <a:cxnLst/>
                <a:rect r="r" b="b" t="t" l="l"/>
                <a:pathLst>
                  <a:path h="647288" w="745314">
                    <a:moveTo>
                      <a:pt x="0" y="0"/>
                    </a:moveTo>
                    <a:lnTo>
                      <a:pt x="745314" y="0"/>
                    </a:lnTo>
                    <a:lnTo>
                      <a:pt x="745314" y="647288"/>
                    </a:lnTo>
                    <a:lnTo>
                      <a:pt x="0" y="647288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45314" cy="7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sz="2981" spc="29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He의 우수성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773151" y="0"/>
              <a:ext cx="17867649" cy="3276898"/>
              <a:chOff x="0" y="0"/>
              <a:chExt cx="2587900" cy="474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87900" cy="474617"/>
              </a:xfrm>
              <a:custGeom>
                <a:avLst/>
                <a:gdLst/>
                <a:ahLst/>
                <a:cxnLst/>
                <a:rect r="r" b="b" t="t" l="l"/>
                <a:pathLst>
                  <a:path h="474617" w="2587900">
                    <a:moveTo>
                      <a:pt x="0" y="0"/>
                    </a:moveTo>
                    <a:lnTo>
                      <a:pt x="2587900" y="0"/>
                    </a:lnTo>
                    <a:lnTo>
                      <a:pt x="2587900" y="474617"/>
                    </a:lnTo>
                    <a:lnTo>
                      <a:pt x="0" y="47461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2587900" cy="4936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858563" y="3906459"/>
            <a:ext cx="12777470" cy="221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Std=0.01: 활성화 값이 0에 치우쳐 기울기 소실(Vanishing Gradient) 발생. 학습 실패.</a:t>
            </a: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Xavier: Sigmoid에 적합하나, ReLU에서는 층이 깊어질수록 값이 치우침.</a:t>
            </a: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He Init: ReLU에 최적화된 초기값. 넓은 분포를 유지하여 깊은 신경망에서도 학습이 원활함.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7120329"/>
            <a:ext cx="16230600" cy="2457673"/>
            <a:chOff x="0" y="0"/>
            <a:chExt cx="21640800" cy="327689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773151" cy="3276898"/>
              <a:chOff x="0" y="0"/>
              <a:chExt cx="745314" cy="64728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45314" cy="647288"/>
              </a:xfrm>
              <a:custGeom>
                <a:avLst/>
                <a:gdLst/>
                <a:ahLst/>
                <a:cxnLst/>
                <a:rect r="r" b="b" t="t" l="l"/>
                <a:pathLst>
                  <a:path h="647288" w="745314">
                    <a:moveTo>
                      <a:pt x="0" y="0"/>
                    </a:moveTo>
                    <a:lnTo>
                      <a:pt x="745314" y="0"/>
                    </a:lnTo>
                    <a:lnTo>
                      <a:pt x="745314" y="647288"/>
                    </a:lnTo>
                    <a:lnTo>
                      <a:pt x="0" y="647288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745314" cy="7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sz="2981" spc="29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Batch Normalization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73151" y="0"/>
              <a:ext cx="17867649" cy="3276898"/>
              <a:chOff x="0" y="0"/>
              <a:chExt cx="2587900" cy="4746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87900" cy="474617"/>
              </a:xfrm>
              <a:custGeom>
                <a:avLst/>
                <a:gdLst/>
                <a:ahLst/>
                <a:cxnLst/>
                <a:rect r="r" b="b" t="t" l="l"/>
                <a:pathLst>
                  <a:path h="474617" w="2587900">
                    <a:moveTo>
                      <a:pt x="0" y="0"/>
                    </a:moveTo>
                    <a:lnTo>
                      <a:pt x="2587900" y="0"/>
                    </a:lnTo>
                    <a:lnTo>
                      <a:pt x="2587900" y="474617"/>
                    </a:lnTo>
                    <a:lnTo>
                      <a:pt x="0" y="47461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2587900" cy="4936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3858563" y="7221383"/>
            <a:ext cx="12777470" cy="221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속도 가속: 훨씬 적은 Epoch으로 높은 정확도 도달.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초기값 의존도 감소: 가중치 초기값에 덜 민감하게 반응하여 안정적 학습 가능.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규제 효과: Dropout 없이도 오버피팅 억제 효과 일부 존재.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결론 및 향후 과제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805406"/>
            <a:ext cx="2829863" cy="5452894"/>
            <a:chOff x="0" y="0"/>
            <a:chExt cx="745314" cy="1436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5314" cy="1436153"/>
            </a:xfrm>
            <a:custGeom>
              <a:avLst/>
              <a:gdLst/>
              <a:ahLst/>
              <a:cxnLst/>
              <a:rect r="r" b="b" t="t" l="l"/>
              <a:pathLst>
                <a:path h="1436153" w="745314">
                  <a:moveTo>
                    <a:pt x="0" y="0"/>
                  </a:moveTo>
                  <a:lnTo>
                    <a:pt x="745314" y="0"/>
                  </a:lnTo>
                  <a:lnTo>
                    <a:pt x="745314" y="1436153"/>
                  </a:lnTo>
                  <a:lnTo>
                    <a:pt x="0" y="143615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45314" cy="1493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최종 요약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58563" y="3805406"/>
            <a:ext cx="13400737" cy="5452894"/>
            <a:chOff x="0" y="0"/>
            <a:chExt cx="2587900" cy="1053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7900" cy="1053043"/>
            </a:xfrm>
            <a:custGeom>
              <a:avLst/>
              <a:gdLst/>
              <a:ahLst/>
              <a:cxnLst/>
              <a:rect r="r" b="b" t="t" l="l"/>
              <a:pathLst>
                <a:path h="1053043" w="2587900">
                  <a:moveTo>
                    <a:pt x="0" y="0"/>
                  </a:moveTo>
                  <a:lnTo>
                    <a:pt x="2587900" y="0"/>
                  </a:lnTo>
                  <a:lnTo>
                    <a:pt x="2587900" y="1053043"/>
                  </a:lnTo>
                  <a:lnTo>
                    <a:pt x="0" y="10530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587900" cy="1072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58563" y="4732557"/>
            <a:ext cx="13234099" cy="356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Optimizer: Adam이 Fashion MNIST 데이터셋에서 가장 빠르고 안정적인 수렴을 보여줌.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Weight Init: ReLU 활성화 함수 사용 시 He Initialization이 필수적임.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Batch Norm: 학습 시간을 획기적으로 단축시키며, 초기값 설정 실패 확률을 낮춤.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종합: Adam + He Init + Batch Normalization 조합이 최적의 성능을 발휘함.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1120" y="-407610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2" y="0"/>
                </a:lnTo>
                <a:lnTo>
                  <a:pt x="9333422" y="9577207"/>
                </a:lnTo>
                <a:lnTo>
                  <a:pt x="0" y="9577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63037" y="-586629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3" y="0"/>
                </a:lnTo>
                <a:lnTo>
                  <a:pt x="9333423" y="9577206"/>
                </a:lnTo>
                <a:lnTo>
                  <a:pt x="0" y="9577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87814">
            <a:off x="14993922" y="7627206"/>
            <a:ext cx="7634959" cy="7834379"/>
          </a:xfrm>
          <a:custGeom>
            <a:avLst/>
            <a:gdLst/>
            <a:ahLst/>
            <a:cxnLst/>
            <a:rect r="r" b="b" t="t" l="l"/>
            <a:pathLst>
              <a:path h="7834379" w="7634959">
                <a:moveTo>
                  <a:pt x="0" y="0"/>
                </a:moveTo>
                <a:lnTo>
                  <a:pt x="7634958" y="0"/>
                </a:lnTo>
                <a:lnTo>
                  <a:pt x="7634958" y="7834379"/>
                </a:lnTo>
                <a:lnTo>
                  <a:pt x="0" y="783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76364">
            <a:off x="-4084727" y="8222639"/>
            <a:ext cx="8815232" cy="9045480"/>
          </a:xfrm>
          <a:custGeom>
            <a:avLst/>
            <a:gdLst/>
            <a:ahLst/>
            <a:cxnLst/>
            <a:rect r="r" b="b" t="t" l="l"/>
            <a:pathLst>
              <a:path h="9045480" w="8815232">
                <a:moveTo>
                  <a:pt x="0" y="0"/>
                </a:moveTo>
                <a:lnTo>
                  <a:pt x="8815232" y="0"/>
                </a:lnTo>
                <a:lnTo>
                  <a:pt x="8815232" y="9045481"/>
                </a:lnTo>
                <a:lnTo>
                  <a:pt x="0" y="9045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74566" y="3590578"/>
            <a:ext cx="1740958" cy="1790191"/>
          </a:xfrm>
          <a:custGeom>
            <a:avLst/>
            <a:gdLst/>
            <a:ahLst/>
            <a:cxnLst/>
            <a:rect r="r" b="b" t="t" l="l"/>
            <a:pathLst>
              <a:path h="1790191" w="1740958">
                <a:moveTo>
                  <a:pt x="0" y="0"/>
                </a:moveTo>
                <a:lnTo>
                  <a:pt x="1740958" y="0"/>
                </a:lnTo>
                <a:lnTo>
                  <a:pt x="1740958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7396" y="3590578"/>
            <a:ext cx="1875438" cy="1790191"/>
          </a:xfrm>
          <a:custGeom>
            <a:avLst/>
            <a:gdLst/>
            <a:ahLst/>
            <a:cxnLst/>
            <a:rect r="r" b="b" t="t" l="l"/>
            <a:pathLst>
              <a:path h="1790191" w="1875438">
                <a:moveTo>
                  <a:pt x="0" y="0"/>
                </a:moveTo>
                <a:lnTo>
                  <a:pt x="1875438" y="0"/>
                </a:lnTo>
                <a:lnTo>
                  <a:pt x="1875438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51455" y="3590578"/>
            <a:ext cx="1985090" cy="1790191"/>
          </a:xfrm>
          <a:custGeom>
            <a:avLst/>
            <a:gdLst/>
            <a:ahLst/>
            <a:cxnLst/>
            <a:rect r="r" b="b" t="t" l="l"/>
            <a:pathLst>
              <a:path h="1790191" w="1985090">
                <a:moveTo>
                  <a:pt x="0" y="0"/>
                </a:moveTo>
                <a:lnTo>
                  <a:pt x="1985090" y="0"/>
                </a:lnTo>
                <a:lnTo>
                  <a:pt x="1985090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13859" y="6573932"/>
            <a:ext cx="4262371" cy="134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현재 MLP 구조의 한계를 넘어 이미지의 공간적 특성을 활용하는 CNN(Convolutional Neural Network) 적용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71009" y="6573932"/>
            <a:ext cx="4262371" cy="100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회전, 이동, 반전 등을 통한 데이터 증강으로 모델의 일반화 성능 추가 확보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23930" y="6573932"/>
            <a:ext cx="4262371" cy="100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Random Search 또는 Bayesian Optimization을 활용한 체계적인 하이퍼파라미터 최적화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결론 및 향후 과제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711549" y="5699273"/>
            <a:ext cx="4487133" cy="788676"/>
            <a:chOff x="0" y="0"/>
            <a:chExt cx="1201485" cy="2111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1485" cy="211178"/>
            </a:xfrm>
            <a:custGeom>
              <a:avLst/>
              <a:gdLst/>
              <a:ahLst/>
              <a:cxnLst/>
              <a:rect r="r" b="b" t="t" l="l"/>
              <a:pathLst>
                <a:path h="211178" w="1201485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38125"/>
              <a:ext cx="1201485" cy="4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Hyperparameter Tuning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00433" y="5699273"/>
            <a:ext cx="4487133" cy="788676"/>
            <a:chOff x="0" y="0"/>
            <a:chExt cx="1201485" cy="2111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1485" cy="211178"/>
            </a:xfrm>
            <a:custGeom>
              <a:avLst/>
              <a:gdLst/>
              <a:ahLst/>
              <a:cxnLst/>
              <a:rect r="r" b="b" t="t" l="l"/>
              <a:pathLst>
                <a:path h="211178" w="1201485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38125"/>
              <a:ext cx="1201485" cy="4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Augmentation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01478" y="5699273"/>
            <a:ext cx="4487133" cy="788676"/>
            <a:chOff x="0" y="0"/>
            <a:chExt cx="1201485" cy="2111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1485" cy="211178"/>
            </a:xfrm>
            <a:custGeom>
              <a:avLst/>
              <a:gdLst/>
              <a:ahLst/>
              <a:cxnLst/>
              <a:rect r="r" b="b" t="t" l="l"/>
              <a:pathLst>
                <a:path h="211178" w="1201485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38125"/>
              <a:ext cx="1201485" cy="4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CNN 도입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8554" y="3441556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DAG6XnuL-Es</dc:identifier>
  <dcterms:modified xsi:type="dcterms:W3CDTF">2011-08-01T06:04:30Z</dcterms:modified>
  <cp:revision>1</cp:revision>
  <dc:title>신경망 중간 발표</dc:title>
</cp:coreProperties>
</file>